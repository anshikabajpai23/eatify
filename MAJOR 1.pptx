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5143500" cx="9144000"/>
  <p:notesSz cx="6858000" cy="9144000"/>
  <p:embeddedFontLst>
    <p:embeddedFont>
      <p:font typeface="Roboto"/>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Roboto-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italic.fntdata"/><Relationship Id="rId10" Type="http://schemas.openxmlformats.org/officeDocument/2006/relationships/slide" Target="slides/slide5.xml"/><Relationship Id="rId54"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font" Target="fonts/Robo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9cf81ef730_1_1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9cf81ef730_1_1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9cf81ef730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9cf81ef730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9cf81ef730_1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9cf81ef730_1_1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c589151ea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c589151ea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af45d98d3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af45d98d3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d83d7b71d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d83d7b71d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af45d98d3c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af45d98d3c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c589151ea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c589151ea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c589151ea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c589151ea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af45d98d3c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af45d98d3c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af45d98d3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af45d98d3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#remove or explain, find flow chart of algo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c5891527a7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c5891527a7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#remove or explain, find flow chart of algo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c589151ea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c589151ea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c589151ea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c589151ea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c5891527a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c5891527a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c5891527a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c5891527a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c5891527a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c5891527a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#remove or explain, find flow chart of algo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c5891527a7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c5891527a7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c5891527a7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c5891527a7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#remove or explain, find flow chart of algo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c5891527a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c5891527a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c5891527a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c5891527a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#remove or explain, find flow chart of algo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c5891527a7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c5891527a7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d83d7b71d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d83d7b71d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d83d7b71d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d83d7b71d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d83d7b71d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d83d7b71d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d83d7b71d1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d83d7b71d1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d83d7b71d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d83d7b71d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d83d7b71d1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d83d7b71d1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c5891527a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c5891527a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af45d98d3c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af45d98d3c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af45d98d3c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af45d98d3c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9cf81ef730_1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9cf81ef730_1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9cf81ef730_1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9cf81ef730_1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ae793034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ae793034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af45d98d3c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af45d98d3c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af45d98d3c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af45d98d3c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af45d98d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af45d98d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Through Image, how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af45d98d3c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af45d98d3c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af45d98d3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af45d98d3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#remove or explain, find flow chart of algo</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af45d98d3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af45d98d3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#remove or explain, find flow chart of algo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af45d98d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af45d98d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#remove or explain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af45d98d3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af45d98d3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APPENDIX: containing all examples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af45d98d3c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af45d98d3c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af45d98d3c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af45d98d3c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What are u showing in graph, explain</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af45d98d3c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af45d98d3c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af45d98d3c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af45d98d3c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Comparison of terms and explain the purpose of comparison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2000"/>
              <a:buNone/>
              <a:defRPr sz="12000">
                <a:solidFill>
                  <a:schemeClr val="lt1"/>
                </a:solidFill>
              </a:defRPr>
            </a:lvl1pPr>
            <a:lvl2pPr lvl="1" rtl="0" algn="ctr">
              <a:spcBef>
                <a:spcPts val="0"/>
              </a:spcBef>
              <a:spcAft>
                <a:spcPts val="0"/>
              </a:spcAft>
              <a:buClr>
                <a:schemeClr val="lt1"/>
              </a:buClr>
              <a:buSzPts val="12000"/>
              <a:buNone/>
              <a:defRPr sz="12000">
                <a:solidFill>
                  <a:schemeClr val="lt1"/>
                </a:solidFill>
              </a:defRPr>
            </a:lvl2pPr>
            <a:lvl3pPr lvl="2" rtl="0" algn="ctr">
              <a:spcBef>
                <a:spcPts val="0"/>
              </a:spcBef>
              <a:spcAft>
                <a:spcPts val="0"/>
              </a:spcAft>
              <a:buClr>
                <a:schemeClr val="lt1"/>
              </a:buClr>
              <a:buSzPts val="12000"/>
              <a:buNone/>
              <a:defRPr sz="12000">
                <a:solidFill>
                  <a:schemeClr val="lt1"/>
                </a:solidFill>
              </a:defRPr>
            </a:lvl3pPr>
            <a:lvl4pPr lvl="3" rtl="0" algn="ctr">
              <a:spcBef>
                <a:spcPts val="0"/>
              </a:spcBef>
              <a:spcAft>
                <a:spcPts val="0"/>
              </a:spcAft>
              <a:buClr>
                <a:schemeClr val="lt1"/>
              </a:buClr>
              <a:buSzPts val="12000"/>
              <a:buNone/>
              <a:defRPr sz="12000">
                <a:solidFill>
                  <a:schemeClr val="lt1"/>
                </a:solidFill>
              </a:defRPr>
            </a:lvl4pPr>
            <a:lvl5pPr lvl="4" rtl="0" algn="ctr">
              <a:spcBef>
                <a:spcPts val="0"/>
              </a:spcBef>
              <a:spcAft>
                <a:spcPts val="0"/>
              </a:spcAft>
              <a:buClr>
                <a:schemeClr val="lt1"/>
              </a:buClr>
              <a:buSzPts val="12000"/>
              <a:buNone/>
              <a:defRPr sz="12000">
                <a:solidFill>
                  <a:schemeClr val="lt1"/>
                </a:solidFill>
              </a:defRPr>
            </a:lvl5pPr>
            <a:lvl6pPr lvl="5" rtl="0" algn="ctr">
              <a:spcBef>
                <a:spcPts val="0"/>
              </a:spcBef>
              <a:spcAft>
                <a:spcPts val="0"/>
              </a:spcAft>
              <a:buClr>
                <a:schemeClr val="lt1"/>
              </a:buClr>
              <a:buSzPts val="12000"/>
              <a:buNone/>
              <a:defRPr sz="12000">
                <a:solidFill>
                  <a:schemeClr val="lt1"/>
                </a:solidFill>
              </a:defRPr>
            </a:lvl6pPr>
            <a:lvl7pPr lvl="6" rtl="0" algn="ctr">
              <a:spcBef>
                <a:spcPts val="0"/>
              </a:spcBef>
              <a:spcAft>
                <a:spcPts val="0"/>
              </a:spcAft>
              <a:buClr>
                <a:schemeClr val="lt1"/>
              </a:buClr>
              <a:buSzPts val="12000"/>
              <a:buNone/>
              <a:defRPr sz="12000">
                <a:solidFill>
                  <a:schemeClr val="lt1"/>
                </a:solidFill>
              </a:defRPr>
            </a:lvl7pPr>
            <a:lvl8pPr lvl="7" rtl="0" algn="ctr">
              <a:spcBef>
                <a:spcPts val="0"/>
              </a:spcBef>
              <a:spcAft>
                <a:spcPts val="0"/>
              </a:spcAft>
              <a:buClr>
                <a:schemeClr val="lt1"/>
              </a:buClr>
              <a:buSzPts val="12000"/>
              <a:buNone/>
              <a:defRPr sz="12000">
                <a:solidFill>
                  <a:schemeClr val="lt1"/>
                </a:solidFill>
              </a:defRPr>
            </a:lvl8pPr>
            <a:lvl9pPr lvl="8" rtl="0"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Clr>
                <a:schemeClr val="lt1"/>
              </a:buClr>
              <a:buSzPts val="1800"/>
              <a:buChar char="●"/>
              <a:defRPr>
                <a:solidFill>
                  <a:schemeClr val="lt1"/>
                </a:solidFill>
              </a:defRPr>
            </a:lvl1pPr>
            <a:lvl2pPr indent="-317500" lvl="1" marL="914400" rtl="0" algn="ctr">
              <a:spcBef>
                <a:spcPts val="1600"/>
              </a:spcBef>
              <a:spcAft>
                <a:spcPts val="0"/>
              </a:spcAft>
              <a:buClr>
                <a:schemeClr val="lt1"/>
              </a:buClr>
              <a:buSzPts val="1400"/>
              <a:buChar char="○"/>
              <a:defRPr>
                <a:solidFill>
                  <a:schemeClr val="lt1"/>
                </a:solidFill>
              </a:defRPr>
            </a:lvl2pPr>
            <a:lvl3pPr indent="-317500" lvl="2" marL="1371600" rtl="0" algn="ctr">
              <a:spcBef>
                <a:spcPts val="1600"/>
              </a:spcBef>
              <a:spcAft>
                <a:spcPts val="0"/>
              </a:spcAft>
              <a:buClr>
                <a:schemeClr val="lt1"/>
              </a:buClr>
              <a:buSzPts val="1400"/>
              <a:buChar char="■"/>
              <a:defRPr>
                <a:solidFill>
                  <a:schemeClr val="lt1"/>
                </a:solidFill>
              </a:defRPr>
            </a:lvl3pPr>
            <a:lvl4pPr indent="-317500" lvl="3" marL="1828800" rtl="0" algn="ctr">
              <a:spcBef>
                <a:spcPts val="1600"/>
              </a:spcBef>
              <a:spcAft>
                <a:spcPts val="0"/>
              </a:spcAft>
              <a:buClr>
                <a:schemeClr val="lt1"/>
              </a:buClr>
              <a:buSzPts val="1400"/>
              <a:buChar char="●"/>
              <a:defRPr>
                <a:solidFill>
                  <a:schemeClr val="lt1"/>
                </a:solidFill>
              </a:defRPr>
            </a:lvl4pPr>
            <a:lvl5pPr indent="-317500" lvl="4" marL="2286000" rtl="0" algn="ctr">
              <a:spcBef>
                <a:spcPts val="1600"/>
              </a:spcBef>
              <a:spcAft>
                <a:spcPts val="0"/>
              </a:spcAft>
              <a:buClr>
                <a:schemeClr val="lt1"/>
              </a:buClr>
              <a:buSzPts val="1400"/>
              <a:buChar char="○"/>
              <a:defRPr>
                <a:solidFill>
                  <a:schemeClr val="lt1"/>
                </a:solidFill>
              </a:defRPr>
            </a:lvl5pPr>
            <a:lvl6pPr indent="-317500" lvl="5" marL="2743200" rtl="0" algn="ctr">
              <a:spcBef>
                <a:spcPts val="1600"/>
              </a:spcBef>
              <a:spcAft>
                <a:spcPts val="0"/>
              </a:spcAft>
              <a:buClr>
                <a:schemeClr val="lt1"/>
              </a:buClr>
              <a:buSzPts val="1400"/>
              <a:buChar char="■"/>
              <a:defRPr>
                <a:solidFill>
                  <a:schemeClr val="lt1"/>
                </a:solidFill>
              </a:defRPr>
            </a:lvl6pPr>
            <a:lvl7pPr indent="-317500" lvl="6" marL="3200400" rtl="0" algn="ctr">
              <a:spcBef>
                <a:spcPts val="1600"/>
              </a:spcBef>
              <a:spcAft>
                <a:spcPts val="0"/>
              </a:spcAft>
              <a:buClr>
                <a:schemeClr val="lt1"/>
              </a:buClr>
              <a:buSzPts val="1400"/>
              <a:buChar char="●"/>
              <a:defRPr>
                <a:solidFill>
                  <a:schemeClr val="lt1"/>
                </a:solidFill>
              </a:defRPr>
            </a:lvl7pPr>
            <a:lvl8pPr indent="-317500" lvl="7" marL="3657600" rtl="0" algn="ctr">
              <a:spcBef>
                <a:spcPts val="1600"/>
              </a:spcBef>
              <a:spcAft>
                <a:spcPts val="0"/>
              </a:spcAft>
              <a:buClr>
                <a:schemeClr val="lt1"/>
              </a:buClr>
              <a:buSzPts val="1400"/>
              <a:buChar char="○"/>
              <a:defRPr>
                <a:solidFill>
                  <a:schemeClr val="lt1"/>
                </a:solidFill>
              </a:defRPr>
            </a:lvl8pPr>
            <a:lvl9pPr indent="-317500" lvl="8" marL="4114800" rtl="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rtl="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rtl="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rtl="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rtl="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rtl="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rtl="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rtl="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rtl="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1"/>
                </a:solidFill>
                <a:latin typeface="Roboto"/>
                <a:ea typeface="Roboto"/>
                <a:cs typeface="Roboto"/>
                <a:sym typeface="Roboto"/>
              </a:defRPr>
            </a:lvl1pPr>
            <a:lvl2pPr lvl="1" rtl="0" algn="r">
              <a:buNone/>
              <a:defRPr sz="1000">
                <a:solidFill>
                  <a:schemeClr val="lt1"/>
                </a:solidFill>
                <a:latin typeface="Roboto"/>
                <a:ea typeface="Roboto"/>
                <a:cs typeface="Roboto"/>
                <a:sym typeface="Roboto"/>
              </a:defRPr>
            </a:lvl2pPr>
            <a:lvl3pPr lvl="2" rtl="0" algn="r">
              <a:buNone/>
              <a:defRPr sz="1000">
                <a:solidFill>
                  <a:schemeClr val="lt1"/>
                </a:solidFill>
                <a:latin typeface="Roboto"/>
                <a:ea typeface="Roboto"/>
                <a:cs typeface="Roboto"/>
                <a:sym typeface="Roboto"/>
              </a:defRPr>
            </a:lvl3pPr>
            <a:lvl4pPr lvl="3" rtl="0" algn="r">
              <a:buNone/>
              <a:defRPr sz="1000">
                <a:solidFill>
                  <a:schemeClr val="lt1"/>
                </a:solidFill>
                <a:latin typeface="Roboto"/>
                <a:ea typeface="Roboto"/>
                <a:cs typeface="Roboto"/>
                <a:sym typeface="Roboto"/>
              </a:defRPr>
            </a:lvl4pPr>
            <a:lvl5pPr lvl="4" rtl="0" algn="r">
              <a:buNone/>
              <a:defRPr sz="1000">
                <a:solidFill>
                  <a:schemeClr val="lt1"/>
                </a:solidFill>
                <a:latin typeface="Roboto"/>
                <a:ea typeface="Roboto"/>
                <a:cs typeface="Roboto"/>
                <a:sym typeface="Roboto"/>
              </a:defRPr>
            </a:lvl5pPr>
            <a:lvl6pPr lvl="5" rtl="0" algn="r">
              <a:buNone/>
              <a:defRPr sz="1000">
                <a:solidFill>
                  <a:schemeClr val="lt1"/>
                </a:solidFill>
                <a:latin typeface="Roboto"/>
                <a:ea typeface="Roboto"/>
                <a:cs typeface="Roboto"/>
                <a:sym typeface="Roboto"/>
              </a:defRPr>
            </a:lvl6pPr>
            <a:lvl7pPr lvl="6" rtl="0" algn="r">
              <a:buNone/>
              <a:defRPr sz="1000">
                <a:solidFill>
                  <a:schemeClr val="lt1"/>
                </a:solidFill>
                <a:latin typeface="Roboto"/>
                <a:ea typeface="Roboto"/>
                <a:cs typeface="Roboto"/>
                <a:sym typeface="Roboto"/>
              </a:defRPr>
            </a:lvl7pPr>
            <a:lvl8pPr lvl="7" rtl="0" algn="r">
              <a:buNone/>
              <a:defRPr sz="1000">
                <a:solidFill>
                  <a:schemeClr val="lt1"/>
                </a:solidFill>
                <a:latin typeface="Roboto"/>
                <a:ea typeface="Roboto"/>
                <a:cs typeface="Roboto"/>
                <a:sym typeface="Roboto"/>
              </a:defRPr>
            </a:lvl8pPr>
            <a:lvl9pPr lvl="8" rtl="0"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9.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jpg"/><Relationship Id="rId5"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7.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jpg"/><Relationship Id="rId4" Type="http://schemas.openxmlformats.org/officeDocument/2006/relationships/image" Target="../media/image1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1.png"/><Relationship Id="rId4" Type="http://schemas.openxmlformats.org/officeDocument/2006/relationships/image" Target="../media/image34.png"/><Relationship Id="rId5"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3.png"/><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6.png"/><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sp>
        <p:nvSpPr>
          <p:cNvPr id="85" name="Google Shape;85;p13"/>
          <p:cNvSpPr txBox="1"/>
          <p:nvPr>
            <p:ph type="ctrTitle"/>
          </p:nvPr>
        </p:nvSpPr>
        <p:spPr>
          <a:xfrm>
            <a:off x="212050" y="289701"/>
            <a:ext cx="8222100" cy="139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GB" sz="3800">
                <a:latin typeface="Calibri"/>
                <a:ea typeface="Calibri"/>
                <a:cs typeface="Calibri"/>
                <a:sym typeface="Calibri"/>
              </a:rPr>
              <a:t>INGREDIENT CONSUMPTION TRACKER APPLICATION</a:t>
            </a:r>
            <a:endParaRPr b="1" sz="3800">
              <a:latin typeface="Calibri"/>
              <a:ea typeface="Calibri"/>
              <a:cs typeface="Calibri"/>
              <a:sym typeface="Calibri"/>
            </a:endParaRPr>
          </a:p>
        </p:txBody>
      </p:sp>
      <p:sp>
        <p:nvSpPr>
          <p:cNvPr id="86" name="Google Shape;86;p13"/>
          <p:cNvSpPr txBox="1"/>
          <p:nvPr>
            <p:ph idx="1" type="subTitle"/>
          </p:nvPr>
        </p:nvSpPr>
        <p:spPr>
          <a:xfrm>
            <a:off x="2201200" y="1683200"/>
            <a:ext cx="4243800" cy="432900"/>
          </a:xfrm>
          <a:prstGeom prst="rect">
            <a:avLst/>
          </a:prstGeom>
        </p:spPr>
        <p:txBody>
          <a:bodyPr anchorCtr="0" anchor="t" bIns="91425" lIns="91425" spcFirstLastPara="1" rIns="91425" wrap="square" tIns="91425">
            <a:noAutofit/>
          </a:bodyPr>
          <a:lstStyle/>
          <a:p>
            <a:pPr indent="0" lvl="0" marL="12700" marR="5080" rtl="0" algn="ctr">
              <a:spcBef>
                <a:spcPts val="0"/>
              </a:spcBef>
              <a:spcAft>
                <a:spcPts val="0"/>
              </a:spcAft>
              <a:buClr>
                <a:srgbClr val="F8E71C"/>
              </a:buClr>
              <a:buFont typeface="Arial"/>
              <a:buNone/>
            </a:pPr>
            <a:r>
              <a:rPr b="1" lang="en-GB" sz="1900">
                <a:solidFill>
                  <a:srgbClr val="FFFFFF"/>
                </a:solidFill>
                <a:latin typeface="Calibri"/>
                <a:ea typeface="Calibri"/>
                <a:cs typeface="Calibri"/>
                <a:sym typeface="Calibri"/>
              </a:rPr>
              <a:t>Your Personal Healthcare Assistant</a:t>
            </a:r>
            <a:endParaRPr sz="100">
              <a:solidFill>
                <a:srgbClr val="FFFFFF"/>
              </a:solidFill>
            </a:endParaRPr>
          </a:p>
        </p:txBody>
      </p:sp>
      <p:pic>
        <p:nvPicPr>
          <p:cNvPr id="87" name="Google Shape;87;p13"/>
          <p:cNvPicPr preferRelativeResize="0"/>
          <p:nvPr/>
        </p:nvPicPr>
        <p:blipFill rotWithShape="1">
          <a:blip r:embed="rId3">
            <a:alphaModFix/>
          </a:blip>
          <a:srcRect b="-3793" l="0" r="-12688" t="-21003"/>
          <a:stretch/>
        </p:blipFill>
        <p:spPr>
          <a:xfrm>
            <a:off x="212050" y="2618549"/>
            <a:ext cx="1845225" cy="2310675"/>
          </a:xfrm>
          <a:prstGeom prst="rect">
            <a:avLst/>
          </a:prstGeom>
          <a:noFill/>
          <a:ln>
            <a:noFill/>
          </a:ln>
        </p:spPr>
      </p:pic>
      <p:sp>
        <p:nvSpPr>
          <p:cNvPr id="88" name="Google Shape;88;p13"/>
          <p:cNvSpPr txBox="1"/>
          <p:nvPr/>
        </p:nvSpPr>
        <p:spPr>
          <a:xfrm>
            <a:off x="5957500" y="3197625"/>
            <a:ext cx="3009900" cy="173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rgbClr val="31394D"/>
              </a:buClr>
              <a:buSzPts val="1100"/>
              <a:buFont typeface="Arial"/>
              <a:buNone/>
            </a:pPr>
            <a:r>
              <a:rPr b="1" lang="en-GB" sz="1500">
                <a:solidFill>
                  <a:srgbClr val="FFFFFF"/>
                </a:solidFill>
              </a:rPr>
              <a:t>Presented </a:t>
            </a:r>
            <a:r>
              <a:rPr b="1" lang="en-GB" sz="1500">
                <a:solidFill>
                  <a:srgbClr val="FFFFFF"/>
                </a:solidFill>
              </a:rPr>
              <a:t>by:</a:t>
            </a:r>
            <a:endParaRPr b="1" sz="1500">
              <a:solidFill>
                <a:srgbClr val="FFFFFF"/>
              </a:solidFill>
            </a:endParaRPr>
          </a:p>
          <a:p>
            <a:pPr indent="0" lvl="0" marL="0" rtl="0" algn="l">
              <a:lnSpc>
                <a:spcPct val="115000"/>
              </a:lnSpc>
              <a:spcBef>
                <a:spcPts val="1200"/>
              </a:spcBef>
              <a:spcAft>
                <a:spcPts val="0"/>
              </a:spcAft>
              <a:buClr>
                <a:srgbClr val="31394D"/>
              </a:buClr>
              <a:buSzPts val="1100"/>
              <a:buFont typeface="Arial"/>
              <a:buNone/>
            </a:pPr>
            <a:r>
              <a:rPr b="1" lang="en-GB" sz="1500">
                <a:solidFill>
                  <a:srgbClr val="FFFFFF"/>
                </a:solidFill>
              </a:rPr>
              <a:t>Anshika Bajpai (9917103009)</a:t>
            </a:r>
            <a:endParaRPr b="1" sz="1500">
              <a:solidFill>
                <a:srgbClr val="FFFFFF"/>
              </a:solidFill>
            </a:endParaRPr>
          </a:p>
          <a:p>
            <a:pPr indent="0" lvl="0" marL="0" rtl="0" algn="l">
              <a:lnSpc>
                <a:spcPct val="115000"/>
              </a:lnSpc>
              <a:spcBef>
                <a:spcPts val="1200"/>
              </a:spcBef>
              <a:spcAft>
                <a:spcPts val="0"/>
              </a:spcAft>
              <a:buClr>
                <a:srgbClr val="31394D"/>
              </a:buClr>
              <a:buSzPts val="1100"/>
              <a:buFont typeface="Arial"/>
              <a:buNone/>
            </a:pPr>
            <a:r>
              <a:rPr b="1" lang="en-GB" sz="1500">
                <a:solidFill>
                  <a:srgbClr val="FFFFFF"/>
                </a:solidFill>
              </a:rPr>
              <a:t>Vishal Kumar (9917103204)</a:t>
            </a:r>
            <a:endParaRPr b="1" sz="1500">
              <a:solidFill>
                <a:srgbClr val="FFFFFF"/>
              </a:solidFill>
            </a:endParaRPr>
          </a:p>
          <a:p>
            <a:pPr indent="0" lvl="0" marL="0" rtl="0" algn="l">
              <a:lnSpc>
                <a:spcPct val="115000"/>
              </a:lnSpc>
              <a:spcBef>
                <a:spcPts val="1200"/>
              </a:spcBef>
              <a:spcAft>
                <a:spcPts val="0"/>
              </a:spcAft>
              <a:buClr>
                <a:srgbClr val="31394D"/>
              </a:buClr>
              <a:buSzPts val="1100"/>
              <a:buFont typeface="Arial"/>
              <a:buNone/>
            </a:pPr>
            <a:r>
              <a:rPr b="1" lang="en-GB" sz="1500">
                <a:solidFill>
                  <a:srgbClr val="FFFFFF"/>
                </a:solidFill>
              </a:rPr>
              <a:t>Rohan Kumar (9917103227)</a:t>
            </a:r>
            <a:endParaRPr b="1" sz="1500">
              <a:solidFill>
                <a:srgbClr val="FFFFFF"/>
              </a:solidFill>
            </a:endParaRPr>
          </a:p>
          <a:p>
            <a:pPr indent="0" lvl="0" marL="0" rtl="0" algn="l">
              <a:spcBef>
                <a:spcPts val="1200"/>
              </a:spcBef>
              <a:spcAft>
                <a:spcPts val="0"/>
              </a:spcAft>
              <a:buNone/>
            </a:pPr>
            <a:r>
              <a:t/>
            </a:r>
            <a:endParaRPr sz="700">
              <a:solidFill>
                <a:srgbClr val="FFFFFF"/>
              </a:solidFill>
              <a:latin typeface="Roboto"/>
              <a:ea typeface="Roboto"/>
              <a:cs typeface="Roboto"/>
              <a:sym typeface="Roboto"/>
            </a:endParaRPr>
          </a:p>
        </p:txBody>
      </p:sp>
      <p:sp>
        <p:nvSpPr>
          <p:cNvPr id="89" name="Google Shape;89;p13"/>
          <p:cNvSpPr txBox="1"/>
          <p:nvPr/>
        </p:nvSpPr>
        <p:spPr>
          <a:xfrm>
            <a:off x="2465950" y="2116100"/>
            <a:ext cx="3714300" cy="1620300"/>
          </a:xfrm>
          <a:prstGeom prst="rect">
            <a:avLst/>
          </a:prstGeom>
          <a:noFill/>
          <a:ln>
            <a:noFill/>
          </a:ln>
        </p:spPr>
        <p:txBody>
          <a:bodyPr anchorCtr="0" anchor="t" bIns="45700" lIns="91425" spcFirstLastPara="1" rIns="91425" wrap="square" tIns="45700">
            <a:noAutofit/>
          </a:bodyPr>
          <a:lstStyle/>
          <a:p>
            <a:pPr indent="0" lvl="0" marL="0" rtl="0" algn="ctr">
              <a:lnSpc>
                <a:spcPct val="115000"/>
              </a:lnSpc>
              <a:spcBef>
                <a:spcPts val="1200"/>
              </a:spcBef>
              <a:spcAft>
                <a:spcPts val="0"/>
              </a:spcAft>
              <a:buClr>
                <a:srgbClr val="31394D"/>
              </a:buClr>
              <a:buSzPts val="1100"/>
              <a:buFont typeface="Arial"/>
              <a:buNone/>
            </a:pPr>
            <a:r>
              <a:rPr b="1" lang="en-GB" sz="2400">
                <a:solidFill>
                  <a:schemeClr val="accent6"/>
                </a:solidFill>
              </a:rPr>
              <a:t>Major Project </a:t>
            </a:r>
            <a:endParaRPr>
              <a:solidFill>
                <a:schemeClr val="accent6"/>
              </a:solidFill>
            </a:endParaRPr>
          </a:p>
          <a:p>
            <a:pPr indent="0" lvl="0" marL="0" rtl="0" algn="ctr">
              <a:lnSpc>
                <a:spcPct val="115000"/>
              </a:lnSpc>
              <a:spcBef>
                <a:spcPts val="1200"/>
              </a:spcBef>
              <a:spcAft>
                <a:spcPts val="0"/>
              </a:spcAft>
              <a:buNone/>
            </a:pPr>
            <a:r>
              <a:rPr lang="en-GB">
                <a:solidFill>
                  <a:srgbClr val="C9DAF8"/>
                </a:solidFill>
              </a:rPr>
              <a:t>Under the supervision of:</a:t>
            </a:r>
            <a:endParaRPr>
              <a:solidFill>
                <a:srgbClr val="C9DAF8"/>
              </a:solidFill>
            </a:endParaRPr>
          </a:p>
          <a:p>
            <a:pPr indent="0" lvl="0" marL="0" rtl="0" algn="ctr">
              <a:lnSpc>
                <a:spcPct val="115000"/>
              </a:lnSpc>
              <a:spcBef>
                <a:spcPts val="1200"/>
              </a:spcBef>
              <a:spcAft>
                <a:spcPts val="0"/>
              </a:spcAft>
              <a:buNone/>
            </a:pPr>
            <a:r>
              <a:rPr b="1" lang="en-GB">
                <a:solidFill>
                  <a:srgbClr val="FFFFFF"/>
                </a:solidFill>
              </a:rPr>
              <a:t>Dr. Himanshu Mittal</a:t>
            </a:r>
            <a:endParaRPr b="1">
              <a:solidFill>
                <a:srgbClr val="FFFFFF"/>
              </a:solidFill>
            </a:endParaRPr>
          </a:p>
          <a:p>
            <a:pPr indent="0" lvl="0" marL="0" rtl="0" algn="ctr">
              <a:lnSpc>
                <a:spcPct val="115000"/>
              </a:lnSpc>
              <a:spcBef>
                <a:spcPts val="1200"/>
              </a:spcBef>
              <a:spcAft>
                <a:spcPts val="0"/>
              </a:spcAft>
              <a:buNone/>
            </a:pPr>
            <a:r>
              <a:t/>
            </a:r>
            <a:endParaRPr sz="2200">
              <a:solidFill>
                <a:srgbClr val="626B73"/>
              </a:solidFill>
            </a:endParaRPr>
          </a:p>
          <a:p>
            <a:pPr indent="0" lvl="0" marL="0" rtl="0" algn="ctr">
              <a:spcBef>
                <a:spcPts val="1200"/>
              </a:spcBef>
              <a:spcAft>
                <a:spcPts val="0"/>
              </a:spcAft>
              <a:buNone/>
            </a:pPr>
            <a:r>
              <a:t/>
            </a:r>
            <a:endParaRPr b="1" sz="2400">
              <a:solidFill>
                <a:srgbClr val="626B73"/>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PROBLEM STATEMENT</a:t>
            </a:r>
            <a:endParaRPr/>
          </a:p>
        </p:txBody>
      </p:sp>
      <p:sp>
        <p:nvSpPr>
          <p:cNvPr id="95" name="Google Shape;95;p14"/>
          <p:cNvSpPr txBox="1"/>
          <p:nvPr>
            <p:ph idx="1" type="body"/>
          </p:nvPr>
        </p:nvSpPr>
        <p:spPr>
          <a:xfrm>
            <a:off x="311700" y="1229875"/>
            <a:ext cx="8520600" cy="3566700"/>
          </a:xfrm>
          <a:prstGeom prst="rect">
            <a:avLst/>
          </a:prstGeom>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Clr>
                <a:srgbClr val="000000"/>
              </a:buClr>
              <a:buSzPts val="1400"/>
              <a:buChar char="●"/>
            </a:pPr>
            <a:r>
              <a:rPr lang="en-GB" sz="1400">
                <a:solidFill>
                  <a:srgbClr val="000000"/>
                </a:solidFill>
              </a:rPr>
              <a:t>National Nutrition Surveys done over the past 25 years show that there is a significant change in the consumption patterns particularly in urban and rural areas. </a:t>
            </a:r>
            <a:r>
              <a:rPr lang="en-GB" sz="1400">
                <a:solidFill>
                  <a:srgbClr val="000000"/>
                </a:solidFill>
              </a:rPr>
              <a:t>The variety of packaged food items has been increasing due to high demand among the population. </a:t>
            </a:r>
            <a:endParaRPr sz="1400">
              <a:solidFill>
                <a:srgbClr val="000000"/>
              </a:solidFill>
            </a:endParaRPr>
          </a:p>
          <a:p>
            <a:pPr indent="-317500" lvl="0" marL="457200" rtl="0" algn="just">
              <a:lnSpc>
                <a:spcPct val="150000"/>
              </a:lnSpc>
              <a:spcBef>
                <a:spcPts val="0"/>
              </a:spcBef>
              <a:spcAft>
                <a:spcPts val="0"/>
              </a:spcAft>
              <a:buClr>
                <a:srgbClr val="000000"/>
              </a:buClr>
              <a:buSzPts val="1400"/>
              <a:buChar char="●"/>
            </a:pPr>
            <a:r>
              <a:rPr lang="en-GB" sz="1400">
                <a:solidFill>
                  <a:srgbClr val="000000"/>
                </a:solidFill>
              </a:rPr>
              <a:t>Every age group consumes packaged food items based on their requirements or comforts.</a:t>
            </a:r>
            <a:endParaRPr sz="1400">
              <a:solidFill>
                <a:srgbClr val="000000"/>
              </a:solidFill>
            </a:endParaRPr>
          </a:p>
          <a:p>
            <a:pPr indent="-317500" lvl="0" marL="457200" rtl="0" algn="just">
              <a:lnSpc>
                <a:spcPct val="150000"/>
              </a:lnSpc>
              <a:spcBef>
                <a:spcPts val="0"/>
              </a:spcBef>
              <a:spcAft>
                <a:spcPts val="0"/>
              </a:spcAft>
              <a:buClr>
                <a:srgbClr val="000000"/>
              </a:buClr>
              <a:buSzPts val="1400"/>
              <a:buChar char="●"/>
            </a:pPr>
            <a:r>
              <a:rPr lang="en-GB" sz="1400">
                <a:solidFill>
                  <a:srgbClr val="000000"/>
                </a:solidFill>
              </a:rPr>
              <a:t>There is a need to study what is the pattern of ingredients that are being consumed by the adolescents and make them aware of it.</a:t>
            </a:r>
            <a:endParaRPr sz="1400">
              <a:solidFill>
                <a:srgbClr val="000000"/>
              </a:solidFill>
            </a:endParaRPr>
          </a:p>
          <a:p>
            <a:pPr indent="-317500" lvl="0" marL="457200" rtl="0" algn="just">
              <a:lnSpc>
                <a:spcPct val="150000"/>
              </a:lnSpc>
              <a:spcBef>
                <a:spcPts val="0"/>
              </a:spcBef>
              <a:spcAft>
                <a:spcPts val="0"/>
              </a:spcAft>
              <a:buClr>
                <a:srgbClr val="000000"/>
              </a:buClr>
              <a:buSzPts val="1400"/>
              <a:buChar char="●"/>
            </a:pPr>
            <a:r>
              <a:rPr lang="en-GB" sz="1400">
                <a:solidFill>
                  <a:srgbClr val="000000"/>
                </a:solidFill>
              </a:rPr>
              <a:t>It is also necessary to suggest them about the varied level of ingredients or nutrients in their body and the adverse effect of a certain type of ingredient. Also suggesting them different food combinations to balance the high and low level of ingredients/nutrients.</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State-of-the-Art</a:t>
            </a:r>
            <a:endParaRPr/>
          </a:p>
        </p:txBody>
      </p:sp>
      <p:sp>
        <p:nvSpPr>
          <p:cNvPr id="101" name="Google Shape;101;p15"/>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1080"/>
              </a:spcBef>
              <a:spcAft>
                <a:spcPts val="0"/>
              </a:spcAft>
              <a:buNone/>
            </a:pPr>
            <a:r>
              <a:rPr b="1" lang="en-GB" sz="2200">
                <a:solidFill>
                  <a:srgbClr val="000000"/>
                </a:solidFill>
                <a:latin typeface="Calibri"/>
                <a:ea typeface="Calibri"/>
                <a:cs typeface="Calibri"/>
                <a:sym typeface="Calibri"/>
              </a:rPr>
              <a:t>Food Intolerances - </a:t>
            </a:r>
            <a:r>
              <a:rPr lang="en-GB" sz="2200">
                <a:solidFill>
                  <a:srgbClr val="000000"/>
                </a:solidFill>
                <a:latin typeface="Calibri"/>
                <a:ea typeface="Calibri"/>
                <a:cs typeface="Calibri"/>
                <a:sym typeface="Calibri"/>
              </a:rPr>
              <a:t>Food Intolerances is focused on aiding people with allergies and food sensitivities.</a:t>
            </a:r>
            <a:r>
              <a:rPr b="1" lang="en-GB" sz="2200">
                <a:solidFill>
                  <a:srgbClr val="000000"/>
                </a:solidFill>
                <a:latin typeface="Calibri"/>
                <a:ea typeface="Calibri"/>
                <a:cs typeface="Calibri"/>
                <a:sym typeface="Calibri"/>
              </a:rPr>
              <a:t> It doesn’t focus on ingredients and nutritional value.</a:t>
            </a:r>
            <a:endParaRPr b="1" sz="2200">
              <a:solidFill>
                <a:srgbClr val="000000"/>
              </a:solidFill>
              <a:latin typeface="Calibri"/>
              <a:ea typeface="Calibri"/>
              <a:cs typeface="Calibri"/>
              <a:sym typeface="Calibri"/>
            </a:endParaRPr>
          </a:p>
          <a:p>
            <a:pPr indent="0" lvl="0" marL="0" rtl="0" algn="l">
              <a:spcBef>
                <a:spcPts val="1080"/>
              </a:spcBef>
              <a:spcAft>
                <a:spcPts val="0"/>
              </a:spcAft>
              <a:buNone/>
            </a:pPr>
            <a:r>
              <a:rPr b="1" lang="en-GB" sz="2200">
                <a:solidFill>
                  <a:srgbClr val="000000"/>
                </a:solidFill>
                <a:latin typeface="Calibri"/>
                <a:ea typeface="Calibri"/>
                <a:cs typeface="Calibri"/>
                <a:sym typeface="Calibri"/>
              </a:rPr>
              <a:t>AVA</a:t>
            </a:r>
            <a:r>
              <a:rPr b="1" lang="en-GB" sz="2200">
                <a:solidFill>
                  <a:srgbClr val="000000"/>
                </a:solidFill>
                <a:latin typeface="Calibri"/>
                <a:ea typeface="Calibri"/>
                <a:cs typeface="Calibri"/>
                <a:sym typeface="Calibri"/>
              </a:rPr>
              <a:t> - </a:t>
            </a:r>
            <a:r>
              <a:rPr lang="en-GB" sz="2200">
                <a:solidFill>
                  <a:srgbClr val="000000"/>
                </a:solidFill>
                <a:latin typeface="Calibri"/>
                <a:ea typeface="Calibri"/>
                <a:cs typeface="Calibri"/>
                <a:sym typeface="Calibri"/>
              </a:rPr>
              <a:t>This is a chatbot based platform which tracks symptoms and their corresponding diseases. The chatbot interacts with user via questionnaire and it does not focus on user’s previous ingredient consumption pattern.</a:t>
            </a:r>
            <a:endParaRPr sz="2200">
              <a:solidFill>
                <a:srgbClr val="000000"/>
              </a:solidFill>
              <a:latin typeface="Calibri"/>
              <a:ea typeface="Calibri"/>
              <a:cs typeface="Calibri"/>
              <a:sym typeface="Calibri"/>
            </a:endParaRPr>
          </a:p>
          <a:p>
            <a:pPr indent="0" lvl="0" marL="0" rtl="0" algn="l">
              <a:spcBef>
                <a:spcPts val="1080"/>
              </a:spcBef>
              <a:spcAft>
                <a:spcPts val="0"/>
              </a:spcAft>
              <a:buNone/>
            </a:pPr>
            <a:r>
              <a:t/>
            </a:r>
            <a:endParaRPr b="1" sz="2200">
              <a:solidFill>
                <a:srgbClr val="000000"/>
              </a:solidFill>
              <a:latin typeface="Calibri"/>
              <a:ea typeface="Calibri"/>
              <a:cs typeface="Calibri"/>
              <a:sym typeface="Calibri"/>
            </a:endParaRPr>
          </a:p>
          <a:p>
            <a:pPr indent="0" lvl="0" marL="0" rtl="0" algn="l">
              <a:spcBef>
                <a:spcPts val="1080"/>
              </a:spcBef>
              <a:spcAft>
                <a:spcPts val="0"/>
              </a:spcAft>
              <a:buNone/>
            </a:pPr>
            <a:r>
              <a:t/>
            </a:r>
            <a:endParaRPr b="1" sz="2200">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312800" y="307600"/>
            <a:ext cx="28665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WORKFLOW</a:t>
            </a:r>
            <a:endParaRPr/>
          </a:p>
        </p:txBody>
      </p:sp>
      <p:sp>
        <p:nvSpPr>
          <p:cNvPr id="107" name="Google Shape;107;p16"/>
          <p:cNvSpPr txBox="1"/>
          <p:nvPr>
            <p:ph idx="1" type="body"/>
          </p:nvPr>
        </p:nvSpPr>
        <p:spPr>
          <a:xfrm>
            <a:off x="0" y="805775"/>
            <a:ext cx="3572400" cy="4191900"/>
          </a:xfrm>
          <a:prstGeom prst="rect">
            <a:avLst/>
          </a:prstGeom>
        </p:spPr>
        <p:txBody>
          <a:bodyPr anchorCtr="0" anchor="t" bIns="91425" lIns="91425" spcFirstLastPara="1" rIns="91425" wrap="square" tIns="91425">
            <a:noAutofit/>
          </a:bodyPr>
          <a:lstStyle/>
          <a:p>
            <a:pPr indent="-336550" lvl="0" marL="457200" rtl="0" algn="just">
              <a:spcBef>
                <a:spcPts val="1080"/>
              </a:spcBef>
              <a:spcAft>
                <a:spcPts val="0"/>
              </a:spcAft>
              <a:buClr>
                <a:srgbClr val="000000"/>
              </a:buClr>
              <a:buSzPts val="1700"/>
              <a:buChar char="●"/>
            </a:pPr>
            <a:r>
              <a:rPr lang="en-GB" sz="1700">
                <a:solidFill>
                  <a:srgbClr val="000000"/>
                </a:solidFill>
              </a:rPr>
              <a:t>We can generate the dataset based on Android Platform with Firebase where users can log their packaged food   consumption data. </a:t>
            </a:r>
            <a:endParaRPr sz="1700">
              <a:solidFill>
                <a:srgbClr val="000000"/>
              </a:solidFill>
            </a:endParaRPr>
          </a:p>
          <a:p>
            <a:pPr indent="-336550" lvl="0" marL="457200" rtl="0" algn="just">
              <a:spcBef>
                <a:spcPts val="0"/>
              </a:spcBef>
              <a:spcAft>
                <a:spcPts val="0"/>
              </a:spcAft>
              <a:buClr>
                <a:srgbClr val="000000"/>
              </a:buClr>
              <a:buSzPts val="1700"/>
              <a:buChar char="●"/>
            </a:pPr>
            <a:r>
              <a:rPr lang="en-GB" sz="1700">
                <a:solidFill>
                  <a:srgbClr val="000000"/>
                </a:solidFill>
              </a:rPr>
              <a:t>Data cleaning and data preprocessing. </a:t>
            </a:r>
            <a:endParaRPr sz="1700">
              <a:solidFill>
                <a:srgbClr val="000000"/>
              </a:solidFill>
            </a:endParaRPr>
          </a:p>
          <a:p>
            <a:pPr indent="-336550" lvl="0" marL="457200" rtl="0" algn="just">
              <a:spcBef>
                <a:spcPts val="0"/>
              </a:spcBef>
              <a:spcAft>
                <a:spcPts val="0"/>
              </a:spcAft>
              <a:buClr>
                <a:srgbClr val="000000"/>
              </a:buClr>
              <a:buSzPts val="1700"/>
              <a:buChar char="●"/>
            </a:pPr>
            <a:r>
              <a:rPr lang="en-GB" sz="1700">
                <a:solidFill>
                  <a:srgbClr val="000000"/>
                </a:solidFill>
              </a:rPr>
              <a:t>Testing the data on multiple algorithms like Apriori, ECLAT, FP Growth</a:t>
            </a:r>
            <a:endParaRPr sz="1700">
              <a:solidFill>
                <a:srgbClr val="000000"/>
              </a:solidFill>
            </a:endParaRPr>
          </a:p>
          <a:p>
            <a:pPr indent="-336550" lvl="0" marL="457200" rtl="0" algn="just">
              <a:spcBef>
                <a:spcPts val="0"/>
              </a:spcBef>
              <a:spcAft>
                <a:spcPts val="0"/>
              </a:spcAft>
              <a:buClr>
                <a:srgbClr val="000000"/>
              </a:buClr>
              <a:buSzPts val="1700"/>
              <a:buChar char="●"/>
            </a:pPr>
            <a:r>
              <a:rPr lang="en-GB" sz="1700">
                <a:solidFill>
                  <a:srgbClr val="000000"/>
                </a:solidFill>
              </a:rPr>
              <a:t>Displaying the frequent set data on chart</a:t>
            </a:r>
            <a:endParaRPr sz="1500">
              <a:solidFill>
                <a:srgbClr val="000000"/>
              </a:solidFill>
            </a:endParaRPr>
          </a:p>
          <a:p>
            <a:pPr indent="0" lvl="0" marL="0" rtl="0" algn="l">
              <a:spcBef>
                <a:spcPts val="1080"/>
              </a:spcBef>
              <a:spcAft>
                <a:spcPts val="0"/>
              </a:spcAft>
              <a:buNone/>
            </a:pPr>
            <a:r>
              <a:t/>
            </a:r>
            <a:endParaRPr sz="1500">
              <a:solidFill>
                <a:srgbClr val="FF0000"/>
              </a:solidFill>
              <a:highlight>
                <a:srgbClr val="FFFF00"/>
              </a:highlight>
            </a:endParaRPr>
          </a:p>
        </p:txBody>
      </p:sp>
      <p:pic>
        <p:nvPicPr>
          <p:cNvPr id="108" name="Google Shape;108;p16"/>
          <p:cNvPicPr preferRelativeResize="0"/>
          <p:nvPr/>
        </p:nvPicPr>
        <p:blipFill>
          <a:blip r:embed="rId3">
            <a:alphaModFix/>
          </a:blip>
          <a:stretch>
            <a:fillRect/>
          </a:stretch>
        </p:blipFill>
        <p:spPr>
          <a:xfrm>
            <a:off x="3572400" y="152400"/>
            <a:ext cx="5704716" cy="48452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312800" y="167825"/>
            <a:ext cx="28665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WORKFLOW</a:t>
            </a:r>
            <a:endParaRPr/>
          </a:p>
        </p:txBody>
      </p:sp>
      <p:sp>
        <p:nvSpPr>
          <p:cNvPr id="114" name="Google Shape;114;p17"/>
          <p:cNvSpPr txBox="1"/>
          <p:nvPr>
            <p:ph idx="1" type="body"/>
          </p:nvPr>
        </p:nvSpPr>
        <p:spPr>
          <a:xfrm>
            <a:off x="-60275" y="675175"/>
            <a:ext cx="4002000" cy="4191900"/>
          </a:xfrm>
          <a:prstGeom prst="rect">
            <a:avLst/>
          </a:prstGeom>
        </p:spPr>
        <p:txBody>
          <a:bodyPr anchorCtr="0" anchor="t" bIns="91425" lIns="91425" spcFirstLastPara="1" rIns="91425" wrap="square" tIns="91425">
            <a:noAutofit/>
          </a:bodyPr>
          <a:lstStyle/>
          <a:p>
            <a:pPr indent="-342900" lvl="0" marL="457200" rtl="0" algn="l">
              <a:spcBef>
                <a:spcPts val="1080"/>
              </a:spcBef>
              <a:spcAft>
                <a:spcPts val="0"/>
              </a:spcAft>
              <a:buClr>
                <a:srgbClr val="000000"/>
              </a:buClr>
              <a:buSzPts val="1800"/>
              <a:buChar char="●"/>
            </a:pPr>
            <a:r>
              <a:rPr lang="en-GB">
                <a:solidFill>
                  <a:srgbClr val="000000"/>
                </a:solidFill>
              </a:rPr>
              <a:t>C</a:t>
            </a:r>
            <a:r>
              <a:rPr lang="en-GB">
                <a:solidFill>
                  <a:srgbClr val="000000"/>
                </a:solidFill>
              </a:rPr>
              <a:t>reated an Ingredient-Food dataset and Disease dataset.</a:t>
            </a:r>
            <a:endParaRPr>
              <a:solidFill>
                <a:srgbClr val="000000"/>
              </a:solidFill>
            </a:endParaRPr>
          </a:p>
          <a:p>
            <a:pPr indent="-342900" lvl="0" marL="457200" rtl="0" algn="l">
              <a:spcBef>
                <a:spcPts val="0"/>
              </a:spcBef>
              <a:spcAft>
                <a:spcPts val="0"/>
              </a:spcAft>
              <a:buClr>
                <a:srgbClr val="000000"/>
              </a:buClr>
              <a:buSzPts val="1800"/>
              <a:buChar char="●"/>
            </a:pPr>
            <a:r>
              <a:rPr lang="en-GB">
                <a:solidFill>
                  <a:srgbClr val="000000"/>
                </a:solidFill>
              </a:rPr>
              <a:t>Applying and modifying the efficient algorithms to achieve the results.</a:t>
            </a:r>
            <a:endParaRPr>
              <a:solidFill>
                <a:srgbClr val="000000"/>
              </a:solidFill>
            </a:endParaRPr>
          </a:p>
          <a:p>
            <a:pPr indent="-342900" lvl="0" marL="457200" rtl="0" algn="l">
              <a:spcBef>
                <a:spcPts val="0"/>
              </a:spcBef>
              <a:spcAft>
                <a:spcPts val="0"/>
              </a:spcAft>
              <a:buClr>
                <a:srgbClr val="000000"/>
              </a:buClr>
              <a:buSzPts val="1800"/>
              <a:buChar char="●"/>
            </a:pPr>
            <a:r>
              <a:rPr lang="en-GB">
                <a:solidFill>
                  <a:srgbClr val="000000"/>
                </a:solidFill>
              </a:rPr>
              <a:t>Suitable steps to search and suggest the food items.</a:t>
            </a:r>
            <a:endParaRPr>
              <a:solidFill>
                <a:srgbClr val="000000"/>
              </a:solidFill>
            </a:endParaRPr>
          </a:p>
          <a:p>
            <a:pPr indent="-342900" lvl="0" marL="457200" rtl="0" algn="l">
              <a:spcBef>
                <a:spcPts val="0"/>
              </a:spcBef>
              <a:spcAft>
                <a:spcPts val="0"/>
              </a:spcAft>
              <a:buClr>
                <a:srgbClr val="000000"/>
              </a:buClr>
              <a:buSzPts val="1800"/>
              <a:buChar char="●"/>
            </a:pPr>
            <a:r>
              <a:rPr lang="en-GB">
                <a:solidFill>
                  <a:srgbClr val="000000"/>
                </a:solidFill>
              </a:rPr>
              <a:t>Creation of HSR dataset.</a:t>
            </a:r>
            <a:endParaRPr>
              <a:solidFill>
                <a:srgbClr val="000000"/>
              </a:solidFill>
            </a:endParaRPr>
          </a:p>
          <a:p>
            <a:pPr indent="-342900" lvl="0" marL="457200" rtl="0" algn="l">
              <a:spcBef>
                <a:spcPts val="0"/>
              </a:spcBef>
              <a:spcAft>
                <a:spcPts val="0"/>
              </a:spcAft>
              <a:buClr>
                <a:srgbClr val="000000"/>
              </a:buClr>
              <a:buSzPts val="1800"/>
              <a:buChar char="●"/>
            </a:pPr>
            <a:r>
              <a:rPr lang="en-GB">
                <a:solidFill>
                  <a:srgbClr val="000000"/>
                </a:solidFill>
              </a:rPr>
              <a:t>Categorization and HSR calculation.</a:t>
            </a:r>
            <a:endParaRPr>
              <a:solidFill>
                <a:srgbClr val="000000"/>
              </a:solidFill>
            </a:endParaRPr>
          </a:p>
          <a:p>
            <a:pPr indent="-342900" lvl="0" marL="457200" rtl="0" algn="l">
              <a:spcBef>
                <a:spcPts val="0"/>
              </a:spcBef>
              <a:spcAft>
                <a:spcPts val="0"/>
              </a:spcAft>
              <a:buClr>
                <a:srgbClr val="000000"/>
              </a:buClr>
              <a:buSzPts val="1800"/>
              <a:buChar char="●"/>
            </a:pPr>
            <a:r>
              <a:rPr lang="en-GB">
                <a:solidFill>
                  <a:srgbClr val="000000"/>
                </a:solidFill>
              </a:rPr>
              <a:t>Appropriate food item suggestion.</a:t>
            </a:r>
            <a:endParaRPr>
              <a:solidFill>
                <a:srgbClr val="000000"/>
              </a:solidFill>
            </a:endParaRPr>
          </a:p>
          <a:p>
            <a:pPr indent="0" lvl="0" marL="0" rtl="0" algn="l">
              <a:spcBef>
                <a:spcPts val="1080"/>
              </a:spcBef>
              <a:spcAft>
                <a:spcPts val="0"/>
              </a:spcAft>
              <a:buNone/>
            </a:pPr>
            <a:r>
              <a:t/>
            </a:r>
            <a:endParaRPr sz="1500">
              <a:solidFill>
                <a:srgbClr val="FF0000"/>
              </a:solidFill>
              <a:highlight>
                <a:srgbClr val="FFFF00"/>
              </a:highlight>
            </a:endParaRPr>
          </a:p>
        </p:txBody>
      </p:sp>
      <p:pic>
        <p:nvPicPr>
          <p:cNvPr id="115" name="Google Shape;115;p17"/>
          <p:cNvPicPr preferRelativeResize="0"/>
          <p:nvPr/>
        </p:nvPicPr>
        <p:blipFill>
          <a:blip r:embed="rId3">
            <a:alphaModFix/>
          </a:blip>
          <a:stretch>
            <a:fillRect/>
          </a:stretch>
        </p:blipFill>
        <p:spPr>
          <a:xfrm>
            <a:off x="3572250" y="112225"/>
            <a:ext cx="5529324" cy="47548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3305325" y="1522700"/>
            <a:ext cx="2590200" cy="135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2400">
                <a:latin typeface="Times New Roman"/>
                <a:ea typeface="Times New Roman"/>
                <a:cs typeface="Times New Roman"/>
                <a:sym typeface="Times New Roman"/>
              </a:rPr>
              <a:t>SAMPLE</a:t>
            </a:r>
            <a:endParaRPr b="1" sz="2400">
              <a:latin typeface="Times New Roman"/>
              <a:ea typeface="Times New Roman"/>
              <a:cs typeface="Times New Roman"/>
              <a:sym typeface="Times New Roman"/>
            </a:endParaRPr>
          </a:p>
          <a:p>
            <a:pPr indent="0" lvl="0" marL="0" rtl="0" algn="ctr">
              <a:spcBef>
                <a:spcPts val="0"/>
              </a:spcBef>
              <a:spcAft>
                <a:spcPts val="0"/>
              </a:spcAft>
              <a:buNone/>
            </a:pPr>
            <a:r>
              <a:rPr b="1" lang="en-GB" sz="2400">
                <a:latin typeface="Times New Roman"/>
                <a:ea typeface="Times New Roman"/>
                <a:cs typeface="Times New Roman"/>
                <a:sym typeface="Times New Roman"/>
              </a:rPr>
              <a:t>SCREENSHOTS</a:t>
            </a:r>
            <a:endParaRPr b="1" sz="2400">
              <a:latin typeface="Times New Roman"/>
              <a:ea typeface="Times New Roman"/>
              <a:cs typeface="Times New Roman"/>
              <a:sym typeface="Times New Roman"/>
            </a:endParaRPr>
          </a:p>
        </p:txBody>
      </p:sp>
      <p:pic>
        <p:nvPicPr>
          <p:cNvPr id="121" name="Google Shape;121;p18"/>
          <p:cNvPicPr preferRelativeResize="0"/>
          <p:nvPr/>
        </p:nvPicPr>
        <p:blipFill rotWithShape="1">
          <a:blip r:embed="rId3">
            <a:alphaModFix/>
          </a:blip>
          <a:srcRect b="25745" l="0" r="0" t="3797"/>
          <a:stretch/>
        </p:blipFill>
        <p:spPr>
          <a:xfrm>
            <a:off x="501750" y="647175"/>
            <a:ext cx="2590200" cy="4049075"/>
          </a:xfrm>
          <a:prstGeom prst="rect">
            <a:avLst/>
          </a:prstGeom>
          <a:noFill/>
          <a:ln>
            <a:noFill/>
          </a:ln>
        </p:spPr>
      </p:pic>
      <p:pic>
        <p:nvPicPr>
          <p:cNvPr id="122" name="Google Shape;122;p18"/>
          <p:cNvPicPr preferRelativeResize="0"/>
          <p:nvPr/>
        </p:nvPicPr>
        <p:blipFill rotWithShape="1">
          <a:blip r:embed="rId4">
            <a:alphaModFix/>
          </a:blip>
          <a:srcRect b="8692" l="0" r="0" t="0"/>
          <a:stretch/>
        </p:blipFill>
        <p:spPr>
          <a:xfrm>
            <a:off x="6254250" y="582925"/>
            <a:ext cx="2452875" cy="4113325"/>
          </a:xfrm>
          <a:prstGeom prst="rect">
            <a:avLst/>
          </a:prstGeom>
          <a:noFill/>
          <a:ln>
            <a:noFill/>
          </a:ln>
        </p:spPr>
      </p:pic>
      <p:sp>
        <p:nvSpPr>
          <p:cNvPr id="123" name="Google Shape;123;p18"/>
          <p:cNvSpPr txBox="1"/>
          <p:nvPr>
            <p:ph type="title"/>
          </p:nvPr>
        </p:nvSpPr>
        <p:spPr>
          <a:xfrm>
            <a:off x="501750" y="4324300"/>
            <a:ext cx="2590200" cy="42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1600">
                <a:solidFill>
                  <a:srgbClr val="FFFFFF"/>
                </a:solidFill>
                <a:latin typeface="Times New Roman"/>
                <a:ea typeface="Times New Roman"/>
                <a:cs typeface="Times New Roman"/>
                <a:sym typeface="Times New Roman"/>
              </a:rPr>
              <a:t>AUTHENTICATION</a:t>
            </a:r>
            <a:endParaRPr b="1" sz="1600">
              <a:solidFill>
                <a:srgbClr val="FFFFFF"/>
              </a:solidFill>
              <a:latin typeface="Times New Roman"/>
              <a:ea typeface="Times New Roman"/>
              <a:cs typeface="Times New Roman"/>
              <a:sym typeface="Times New Roman"/>
            </a:endParaRPr>
          </a:p>
        </p:txBody>
      </p:sp>
      <p:sp>
        <p:nvSpPr>
          <p:cNvPr id="124" name="Google Shape;124;p18"/>
          <p:cNvSpPr txBox="1"/>
          <p:nvPr>
            <p:ph type="title"/>
          </p:nvPr>
        </p:nvSpPr>
        <p:spPr>
          <a:xfrm>
            <a:off x="6254250" y="4324300"/>
            <a:ext cx="2590200" cy="42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1600">
                <a:solidFill>
                  <a:srgbClr val="FFFFFF"/>
                </a:solidFill>
                <a:latin typeface="Times New Roman"/>
                <a:ea typeface="Times New Roman"/>
                <a:cs typeface="Times New Roman"/>
                <a:sym typeface="Times New Roman"/>
              </a:rPr>
              <a:t>USER DETAILS</a:t>
            </a:r>
            <a:endParaRPr b="1" sz="1600">
              <a:solidFill>
                <a:srgbClr val="FFFFFF"/>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9"/>
          <p:cNvPicPr preferRelativeResize="0"/>
          <p:nvPr/>
        </p:nvPicPr>
        <p:blipFill rotWithShape="1">
          <a:blip r:embed="rId3">
            <a:alphaModFix/>
          </a:blip>
          <a:srcRect b="22185" l="3428" r="0" t="0"/>
          <a:stretch/>
        </p:blipFill>
        <p:spPr>
          <a:xfrm>
            <a:off x="161150" y="212425"/>
            <a:ext cx="2726199" cy="4458949"/>
          </a:xfrm>
          <a:prstGeom prst="rect">
            <a:avLst/>
          </a:prstGeom>
          <a:noFill/>
          <a:ln>
            <a:noFill/>
          </a:ln>
        </p:spPr>
      </p:pic>
      <p:pic>
        <p:nvPicPr>
          <p:cNvPr id="130" name="Google Shape;130;p19"/>
          <p:cNvPicPr preferRelativeResize="0"/>
          <p:nvPr/>
        </p:nvPicPr>
        <p:blipFill>
          <a:blip r:embed="rId4">
            <a:alphaModFix/>
          </a:blip>
          <a:stretch>
            <a:fillRect/>
          </a:stretch>
        </p:blipFill>
        <p:spPr>
          <a:xfrm>
            <a:off x="3364088" y="129000"/>
            <a:ext cx="2726199" cy="4695801"/>
          </a:xfrm>
          <a:prstGeom prst="rect">
            <a:avLst/>
          </a:prstGeom>
          <a:noFill/>
          <a:ln>
            <a:noFill/>
          </a:ln>
        </p:spPr>
      </p:pic>
      <p:pic>
        <p:nvPicPr>
          <p:cNvPr id="131" name="Google Shape;131;p19"/>
          <p:cNvPicPr preferRelativeResize="0"/>
          <p:nvPr/>
        </p:nvPicPr>
        <p:blipFill>
          <a:blip r:embed="rId5">
            <a:alphaModFix/>
          </a:blip>
          <a:stretch>
            <a:fillRect/>
          </a:stretch>
        </p:blipFill>
        <p:spPr>
          <a:xfrm>
            <a:off x="6567025" y="94000"/>
            <a:ext cx="2405550" cy="47657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0"/>
          <p:cNvPicPr preferRelativeResize="0"/>
          <p:nvPr/>
        </p:nvPicPr>
        <p:blipFill rotWithShape="1">
          <a:blip r:embed="rId3">
            <a:alphaModFix/>
          </a:blip>
          <a:srcRect b="60620" l="0" r="58730" t="0"/>
          <a:stretch/>
        </p:blipFill>
        <p:spPr>
          <a:xfrm>
            <a:off x="0" y="549450"/>
            <a:ext cx="4418299" cy="2022300"/>
          </a:xfrm>
          <a:prstGeom prst="rect">
            <a:avLst/>
          </a:prstGeom>
          <a:noFill/>
          <a:ln>
            <a:noFill/>
          </a:ln>
        </p:spPr>
      </p:pic>
      <p:sp>
        <p:nvSpPr>
          <p:cNvPr id="137" name="Google Shape;137;p20"/>
          <p:cNvSpPr txBox="1"/>
          <p:nvPr>
            <p:ph type="title"/>
          </p:nvPr>
        </p:nvSpPr>
        <p:spPr>
          <a:xfrm>
            <a:off x="-127925" y="2571750"/>
            <a:ext cx="4022400" cy="75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3200">
                <a:latin typeface="Times New Roman"/>
                <a:ea typeface="Times New Roman"/>
                <a:cs typeface="Times New Roman"/>
                <a:sym typeface="Times New Roman"/>
              </a:rPr>
              <a:t>Ingredients </a:t>
            </a:r>
            <a:r>
              <a:rPr b="1" lang="en-GB" sz="3200">
                <a:latin typeface="Times New Roman"/>
                <a:ea typeface="Times New Roman"/>
                <a:cs typeface="Times New Roman"/>
                <a:sym typeface="Times New Roman"/>
              </a:rPr>
              <a:t>Dataset</a:t>
            </a:r>
            <a:endParaRPr b="1" sz="3200">
              <a:latin typeface="Times New Roman"/>
              <a:ea typeface="Times New Roman"/>
              <a:cs typeface="Times New Roman"/>
              <a:sym typeface="Times New Roman"/>
            </a:endParaRPr>
          </a:p>
        </p:txBody>
      </p:sp>
      <p:pic>
        <p:nvPicPr>
          <p:cNvPr id="138" name="Google Shape;138;p20"/>
          <p:cNvPicPr preferRelativeResize="0"/>
          <p:nvPr/>
        </p:nvPicPr>
        <p:blipFill rotWithShape="1">
          <a:blip r:embed="rId3">
            <a:alphaModFix/>
          </a:blip>
          <a:srcRect b="60620" l="65649" r="0" t="0"/>
          <a:stretch/>
        </p:blipFill>
        <p:spPr>
          <a:xfrm>
            <a:off x="4418300" y="549450"/>
            <a:ext cx="4725700" cy="2022300"/>
          </a:xfrm>
          <a:prstGeom prst="rect">
            <a:avLst/>
          </a:prstGeom>
          <a:noFill/>
          <a:ln>
            <a:noFill/>
          </a:ln>
        </p:spPr>
      </p:pic>
      <p:sp>
        <p:nvSpPr>
          <p:cNvPr id="139" name="Google Shape;139;p20"/>
          <p:cNvSpPr txBox="1"/>
          <p:nvPr/>
        </p:nvSpPr>
        <p:spPr>
          <a:xfrm>
            <a:off x="80575" y="3048500"/>
            <a:ext cx="7465200" cy="15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 </a:t>
            </a:r>
            <a:r>
              <a:rPr lang="en-GB" sz="1900">
                <a:latin typeface="Times New Roman"/>
                <a:ea typeface="Times New Roman"/>
                <a:cs typeface="Times New Roman"/>
                <a:sym typeface="Times New Roman"/>
              </a:rPr>
              <a:t>It contains 10000 packaged food item names along with the ingredients present in it.We used this dataset for analysing efficient algorithm. This dataset was cleaned and processed into packaged food dataset </a:t>
            </a:r>
            <a:endParaRPr sz="1900">
              <a:latin typeface="Times New Roman"/>
              <a:ea typeface="Times New Roman"/>
              <a:cs typeface="Times New Roman"/>
              <a:sym typeface="Times New Roman"/>
            </a:endParaRPr>
          </a:p>
          <a:p>
            <a:pPr indent="0" lvl="0" marL="0" rtl="0" algn="l">
              <a:spcBef>
                <a:spcPts val="0"/>
              </a:spcBef>
              <a:spcAft>
                <a:spcPts val="0"/>
              </a:spcAft>
              <a:buNone/>
            </a:pPr>
            <a:r>
              <a:rPr lang="en-GB" sz="1900">
                <a:latin typeface="Times New Roman"/>
                <a:ea typeface="Times New Roman"/>
                <a:cs typeface="Times New Roman"/>
                <a:sym typeface="Times New Roman"/>
              </a:rPr>
              <a:t>(refer slide 7)</a:t>
            </a:r>
            <a:br>
              <a:rPr lang="en-GB" sz="1900">
                <a:latin typeface="Times New Roman"/>
                <a:ea typeface="Times New Roman"/>
                <a:cs typeface="Times New Roman"/>
                <a:sym typeface="Times New Roman"/>
              </a:rPr>
            </a:br>
            <a:r>
              <a:rPr lang="en-GB" sz="1900">
                <a:latin typeface="Times New Roman"/>
                <a:ea typeface="Times New Roman"/>
                <a:cs typeface="Times New Roman"/>
                <a:sym typeface="Times New Roman"/>
              </a:rPr>
              <a:t>Reference: https://www.kaggle.com/datafiniti/food-ingredient-lists</a:t>
            </a:r>
            <a:endParaRPr sz="19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123700" y="11455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DATA PREPROCESSING</a:t>
            </a:r>
            <a:endParaRPr/>
          </a:p>
        </p:txBody>
      </p:sp>
      <p:sp>
        <p:nvSpPr>
          <p:cNvPr id="145" name="Google Shape;145;p21"/>
          <p:cNvSpPr txBox="1"/>
          <p:nvPr>
            <p:ph idx="1" type="body"/>
          </p:nvPr>
        </p:nvSpPr>
        <p:spPr>
          <a:xfrm>
            <a:off x="311700" y="483450"/>
            <a:ext cx="8520600" cy="4085700"/>
          </a:xfrm>
          <a:prstGeom prst="rect">
            <a:avLst/>
          </a:prstGeom>
        </p:spPr>
        <p:txBody>
          <a:bodyPr anchorCtr="0" anchor="t" bIns="91425" lIns="91425" spcFirstLastPara="1" rIns="91425" wrap="square" tIns="91425">
            <a:noAutofit/>
          </a:bodyPr>
          <a:lstStyle/>
          <a:p>
            <a:pPr indent="-336550" lvl="0" marL="457200" rtl="0" algn="just">
              <a:lnSpc>
                <a:spcPct val="150000"/>
              </a:lnSpc>
              <a:spcBef>
                <a:spcPts val="1700"/>
              </a:spcBef>
              <a:spcAft>
                <a:spcPts val="0"/>
              </a:spcAft>
              <a:buClr>
                <a:srgbClr val="000000"/>
              </a:buClr>
              <a:buSzPts val="1700"/>
              <a:buFont typeface="Calibri"/>
              <a:buAutoNum type="arabicPeriod"/>
            </a:pPr>
            <a:r>
              <a:rPr lang="en-GB" sz="1700">
                <a:solidFill>
                  <a:srgbClr val="000000"/>
                </a:solidFill>
                <a:latin typeface="Calibri"/>
                <a:ea typeface="Calibri"/>
                <a:cs typeface="Calibri"/>
                <a:sym typeface="Calibri"/>
              </a:rPr>
              <a:t>Deleted adjectives such as </a:t>
            </a:r>
            <a:r>
              <a:rPr b="1" lang="en-GB" sz="1700">
                <a:solidFill>
                  <a:srgbClr val="000000"/>
                </a:solidFill>
                <a:latin typeface="Calibri"/>
                <a:ea typeface="Calibri"/>
                <a:cs typeface="Calibri"/>
                <a:sym typeface="Calibri"/>
              </a:rPr>
              <a:t>“exceptionally high quality”</a:t>
            </a:r>
            <a:r>
              <a:rPr lang="en-GB" sz="1700">
                <a:solidFill>
                  <a:srgbClr val="000000"/>
                </a:solidFill>
                <a:latin typeface="Calibri"/>
                <a:ea typeface="Calibri"/>
                <a:cs typeface="Calibri"/>
                <a:sym typeface="Calibri"/>
              </a:rPr>
              <a:t> and </a:t>
            </a:r>
            <a:r>
              <a:rPr b="1" lang="en-GB" sz="1700">
                <a:solidFill>
                  <a:srgbClr val="000000"/>
                </a:solidFill>
                <a:latin typeface="Calibri"/>
                <a:ea typeface="Calibri"/>
                <a:cs typeface="Calibri"/>
                <a:sym typeface="Calibri"/>
              </a:rPr>
              <a:t>vitamin ingredients</a:t>
            </a:r>
            <a:r>
              <a:rPr lang="en-GB" sz="1700">
                <a:solidFill>
                  <a:srgbClr val="000000"/>
                </a:solidFill>
                <a:latin typeface="Calibri"/>
                <a:ea typeface="Calibri"/>
                <a:cs typeface="Calibri"/>
                <a:sym typeface="Calibri"/>
              </a:rPr>
              <a:t> and products</a:t>
            </a:r>
            <a:endParaRPr sz="1700">
              <a:solidFill>
                <a:srgbClr val="000000"/>
              </a:solidFill>
              <a:highlight>
                <a:srgbClr val="FF9900"/>
              </a:highlight>
              <a:latin typeface="Calibri"/>
              <a:ea typeface="Calibri"/>
              <a:cs typeface="Calibri"/>
              <a:sym typeface="Calibri"/>
            </a:endParaRPr>
          </a:p>
          <a:p>
            <a:pPr indent="-336550" lvl="0" marL="457200" rtl="0" algn="just">
              <a:lnSpc>
                <a:spcPct val="150000"/>
              </a:lnSpc>
              <a:spcBef>
                <a:spcPts val="0"/>
              </a:spcBef>
              <a:spcAft>
                <a:spcPts val="0"/>
              </a:spcAft>
              <a:buClr>
                <a:srgbClr val="000000"/>
              </a:buClr>
              <a:buSzPts val="1700"/>
              <a:buFont typeface="Calibri"/>
              <a:buAutoNum type="arabicPeriod"/>
            </a:pPr>
            <a:r>
              <a:rPr lang="en-GB" sz="1700">
                <a:solidFill>
                  <a:srgbClr val="000000"/>
                </a:solidFill>
                <a:latin typeface="Calibri"/>
                <a:ea typeface="Calibri"/>
                <a:cs typeface="Calibri"/>
                <a:sym typeface="Calibri"/>
              </a:rPr>
              <a:t>Kept adjectives that indicate food processing, e.g. “bleached white flour” and “roasted almonds”, </a:t>
            </a:r>
            <a:r>
              <a:rPr lang="en-GB" sz="1700">
                <a:solidFill>
                  <a:srgbClr val="000000"/>
                </a:solidFill>
                <a:latin typeface="Calibri"/>
                <a:ea typeface="Calibri"/>
                <a:cs typeface="Calibri"/>
                <a:sym typeface="Calibri"/>
              </a:rPr>
              <a:t> “organic”, </a:t>
            </a:r>
            <a:r>
              <a:rPr lang="en-GB" sz="1700">
                <a:solidFill>
                  <a:srgbClr val="000000"/>
                </a:solidFill>
                <a:latin typeface="Calibri"/>
                <a:ea typeface="Calibri"/>
                <a:cs typeface="Calibri"/>
                <a:sym typeface="Calibri"/>
              </a:rPr>
              <a:t>“dried berries”., “whole wheat” and “blue corn” because they are types that could have </a:t>
            </a:r>
            <a:r>
              <a:rPr b="1" lang="en-GB" sz="1700">
                <a:solidFill>
                  <a:srgbClr val="000000"/>
                </a:solidFill>
                <a:latin typeface="Calibri"/>
                <a:ea typeface="Calibri"/>
                <a:cs typeface="Calibri"/>
                <a:sym typeface="Calibri"/>
              </a:rPr>
              <a:t>different ingredient</a:t>
            </a:r>
            <a:r>
              <a:rPr lang="en-GB" sz="1700">
                <a:solidFill>
                  <a:srgbClr val="000000"/>
                </a:solidFill>
                <a:latin typeface="Calibri"/>
                <a:ea typeface="Calibri"/>
                <a:cs typeface="Calibri"/>
                <a:sym typeface="Calibri"/>
              </a:rPr>
              <a:t> implications compared to “wheat” and “corn”. </a:t>
            </a:r>
            <a:endParaRPr sz="1700">
              <a:solidFill>
                <a:srgbClr val="000000"/>
              </a:solidFill>
              <a:latin typeface="Calibri"/>
              <a:ea typeface="Calibri"/>
              <a:cs typeface="Calibri"/>
              <a:sym typeface="Calibri"/>
            </a:endParaRPr>
          </a:p>
          <a:p>
            <a:pPr indent="-336550" lvl="0" marL="457200" rtl="0" algn="just">
              <a:lnSpc>
                <a:spcPct val="150000"/>
              </a:lnSpc>
              <a:spcBef>
                <a:spcPts val="0"/>
              </a:spcBef>
              <a:spcAft>
                <a:spcPts val="0"/>
              </a:spcAft>
              <a:buClr>
                <a:srgbClr val="000000"/>
              </a:buClr>
              <a:buSzPts val="1700"/>
              <a:buFont typeface="Calibri"/>
              <a:buAutoNum type="arabicPeriod"/>
            </a:pPr>
            <a:r>
              <a:rPr lang="en-GB" sz="1700">
                <a:solidFill>
                  <a:srgbClr val="000000"/>
                </a:solidFill>
                <a:latin typeface="Calibri"/>
                <a:ea typeface="Calibri"/>
                <a:cs typeface="Calibri"/>
                <a:sym typeface="Calibri"/>
              </a:rPr>
              <a:t>Deleted “whole” in “whole strawberries” because this </a:t>
            </a:r>
            <a:r>
              <a:rPr b="1" lang="en-GB" sz="1700">
                <a:solidFill>
                  <a:srgbClr val="000000"/>
                </a:solidFill>
                <a:latin typeface="Calibri"/>
                <a:ea typeface="Calibri"/>
                <a:cs typeface="Calibri"/>
                <a:sym typeface="Calibri"/>
              </a:rPr>
              <a:t>type doesn’t appear to change</a:t>
            </a:r>
            <a:r>
              <a:rPr lang="en-GB" sz="1700">
                <a:solidFill>
                  <a:srgbClr val="000000"/>
                </a:solidFill>
                <a:latin typeface="Calibri"/>
                <a:ea typeface="Calibri"/>
                <a:cs typeface="Calibri"/>
                <a:sym typeface="Calibri"/>
              </a:rPr>
              <a:t> the ingredient list. </a:t>
            </a:r>
            <a:endParaRPr sz="1700">
              <a:solidFill>
                <a:srgbClr val="000000"/>
              </a:solidFill>
              <a:latin typeface="Calibri"/>
              <a:ea typeface="Calibri"/>
              <a:cs typeface="Calibri"/>
              <a:sym typeface="Calibri"/>
            </a:endParaRPr>
          </a:p>
          <a:p>
            <a:pPr indent="-336550" lvl="0" marL="457200" rtl="0" algn="just">
              <a:lnSpc>
                <a:spcPct val="150000"/>
              </a:lnSpc>
              <a:spcBef>
                <a:spcPts val="0"/>
              </a:spcBef>
              <a:spcAft>
                <a:spcPts val="0"/>
              </a:spcAft>
              <a:buClr>
                <a:srgbClr val="000000"/>
              </a:buClr>
              <a:buSzPts val="1700"/>
              <a:buFont typeface="Calibri"/>
              <a:buAutoNum type="arabicPeriod"/>
            </a:pPr>
            <a:r>
              <a:rPr lang="en-GB" sz="1700">
                <a:solidFill>
                  <a:srgbClr val="000000"/>
                </a:solidFill>
                <a:latin typeface="Calibri"/>
                <a:ea typeface="Calibri"/>
                <a:cs typeface="Calibri"/>
                <a:sym typeface="Calibri"/>
              </a:rPr>
              <a:t>Any “</a:t>
            </a:r>
            <a:r>
              <a:rPr b="1" lang="en-GB" sz="1700">
                <a:solidFill>
                  <a:srgbClr val="000000"/>
                </a:solidFill>
                <a:latin typeface="Calibri"/>
                <a:ea typeface="Calibri"/>
                <a:cs typeface="Calibri"/>
                <a:sym typeface="Calibri"/>
              </a:rPr>
              <a:t>may contain” or “added” ingredients</a:t>
            </a:r>
            <a:r>
              <a:rPr lang="en-GB" sz="1700">
                <a:solidFill>
                  <a:srgbClr val="000000"/>
                </a:solidFill>
                <a:latin typeface="Calibri"/>
                <a:ea typeface="Calibri"/>
                <a:cs typeface="Calibri"/>
                <a:sym typeface="Calibri"/>
              </a:rPr>
              <a:t> are treated as regular ingredients and parsed the same as the others.</a:t>
            </a:r>
            <a:endParaRPr sz="1700">
              <a:solidFill>
                <a:srgbClr val="000000"/>
              </a:solidFill>
              <a:latin typeface="Calibri"/>
              <a:ea typeface="Calibri"/>
              <a:cs typeface="Calibri"/>
              <a:sym typeface="Calibri"/>
            </a:endParaRPr>
          </a:p>
          <a:p>
            <a:pPr indent="-336550" lvl="0" marL="457200" rtl="0" algn="just">
              <a:lnSpc>
                <a:spcPct val="150000"/>
              </a:lnSpc>
              <a:spcBef>
                <a:spcPts val="0"/>
              </a:spcBef>
              <a:spcAft>
                <a:spcPts val="0"/>
              </a:spcAft>
              <a:buClr>
                <a:srgbClr val="000000"/>
              </a:buClr>
              <a:buSzPts val="1700"/>
              <a:buFont typeface="Calibri"/>
              <a:buAutoNum type="arabicPeriod"/>
            </a:pPr>
            <a:r>
              <a:rPr lang="en-GB" sz="1700">
                <a:solidFill>
                  <a:srgbClr val="000000"/>
                </a:solidFill>
                <a:latin typeface="Calibri"/>
                <a:ea typeface="Calibri"/>
                <a:cs typeface="Calibri"/>
                <a:sym typeface="Calibri"/>
              </a:rPr>
              <a:t>Kept ambiguous ingredient references, e.g. “other flavors”, etc.</a:t>
            </a:r>
            <a:endParaRPr sz="17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231125" y="1817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DATA PREPROCESSING</a:t>
            </a:r>
            <a:endParaRPr/>
          </a:p>
        </p:txBody>
      </p:sp>
      <p:sp>
        <p:nvSpPr>
          <p:cNvPr id="151" name="Google Shape;151;p22"/>
          <p:cNvSpPr txBox="1"/>
          <p:nvPr>
            <p:ph idx="1" type="body"/>
          </p:nvPr>
        </p:nvSpPr>
        <p:spPr>
          <a:xfrm>
            <a:off x="231125" y="789500"/>
            <a:ext cx="8793600" cy="3779400"/>
          </a:xfrm>
          <a:prstGeom prst="rect">
            <a:avLst/>
          </a:prstGeom>
        </p:spPr>
        <p:txBody>
          <a:bodyPr anchorCtr="0" anchor="t" bIns="91425" lIns="91425" spcFirstLastPara="1" rIns="91425" wrap="square" tIns="91425">
            <a:noAutofit/>
          </a:bodyPr>
          <a:lstStyle/>
          <a:p>
            <a:pPr indent="-330200" lvl="0" marL="457200" rtl="0" algn="just">
              <a:lnSpc>
                <a:spcPct val="200000"/>
              </a:lnSpc>
              <a:spcBef>
                <a:spcPts val="1700"/>
              </a:spcBef>
              <a:spcAft>
                <a:spcPts val="0"/>
              </a:spcAft>
              <a:buClr>
                <a:srgbClr val="000000"/>
              </a:buClr>
              <a:buSzPts val="1600"/>
              <a:buFont typeface="Times New Roman"/>
              <a:buAutoNum type="arabicPeriod"/>
            </a:pPr>
            <a:r>
              <a:rPr lang="en-GB" sz="1600">
                <a:solidFill>
                  <a:srgbClr val="000000"/>
                </a:solidFill>
                <a:latin typeface="Times New Roman"/>
                <a:ea typeface="Times New Roman"/>
                <a:cs typeface="Times New Roman"/>
                <a:sym typeface="Times New Roman"/>
              </a:rPr>
              <a:t>Deleted “Reverse Osmosis water”,  non-food items, e.g. The One-time-use Pack! Wipe 70gx5 </a:t>
            </a:r>
            <a:endParaRPr sz="1600">
              <a:solidFill>
                <a:srgbClr val="000000"/>
              </a:solidFill>
              <a:latin typeface="Times New Roman"/>
              <a:ea typeface="Times New Roman"/>
              <a:cs typeface="Times New Roman"/>
              <a:sym typeface="Times New Roman"/>
            </a:endParaRPr>
          </a:p>
          <a:p>
            <a:pPr indent="-330200" lvl="0" marL="457200" rtl="0" algn="just">
              <a:lnSpc>
                <a:spcPct val="200000"/>
              </a:lnSpc>
              <a:spcBef>
                <a:spcPts val="0"/>
              </a:spcBef>
              <a:spcAft>
                <a:spcPts val="0"/>
              </a:spcAft>
              <a:buClr>
                <a:srgbClr val="000000"/>
              </a:buClr>
              <a:buSzPts val="1600"/>
              <a:buFont typeface="Times New Roman"/>
              <a:buAutoNum type="arabicPeriod"/>
            </a:pPr>
            <a:r>
              <a:rPr b="1" lang="en-GB" sz="1600">
                <a:solidFill>
                  <a:srgbClr val="000000"/>
                </a:solidFill>
                <a:latin typeface="Times New Roman"/>
                <a:ea typeface="Times New Roman"/>
                <a:cs typeface="Times New Roman"/>
                <a:sym typeface="Times New Roman"/>
              </a:rPr>
              <a:t>Unreadable characters </a:t>
            </a:r>
            <a:r>
              <a:rPr lang="en-GB" sz="1600">
                <a:solidFill>
                  <a:srgbClr val="000000"/>
                </a:solidFill>
                <a:latin typeface="Times New Roman"/>
                <a:ea typeface="Times New Roman"/>
                <a:cs typeface="Times New Roman"/>
                <a:sym typeface="Times New Roman"/>
              </a:rPr>
              <a:t>were deleted, e.g. Waterï¿½ï¿½ï¿½Spring Water.Sub Bunï¿½ï¿½ï¿½</a:t>
            </a:r>
            <a:endParaRPr sz="1600">
              <a:solidFill>
                <a:srgbClr val="000000"/>
              </a:solidFill>
              <a:latin typeface="Times New Roman"/>
              <a:ea typeface="Times New Roman"/>
              <a:cs typeface="Times New Roman"/>
              <a:sym typeface="Times New Roman"/>
            </a:endParaRPr>
          </a:p>
          <a:p>
            <a:pPr indent="-330200" lvl="0" marL="457200" rtl="0" algn="just">
              <a:lnSpc>
                <a:spcPct val="200000"/>
              </a:lnSpc>
              <a:spcBef>
                <a:spcPts val="0"/>
              </a:spcBef>
              <a:spcAft>
                <a:spcPts val="0"/>
              </a:spcAft>
              <a:buClr>
                <a:srgbClr val="000000"/>
              </a:buClr>
              <a:buSzPts val="1600"/>
              <a:buFont typeface="Times New Roman"/>
              <a:buAutoNum type="arabicPeriod"/>
            </a:pPr>
            <a:r>
              <a:rPr lang="en-GB" sz="1600">
                <a:solidFill>
                  <a:srgbClr val="000000"/>
                </a:solidFill>
                <a:latin typeface="Times New Roman"/>
                <a:ea typeface="Times New Roman"/>
                <a:cs typeface="Times New Roman"/>
                <a:sym typeface="Times New Roman"/>
              </a:rPr>
              <a:t>All the ingredients were split from one cell to multiple cells. (</a:t>
            </a:r>
            <a:r>
              <a:rPr b="1" lang="en-GB" sz="1600">
                <a:solidFill>
                  <a:srgbClr val="000000"/>
                </a:solidFill>
                <a:latin typeface="Times New Roman"/>
                <a:ea typeface="Times New Roman"/>
                <a:cs typeface="Times New Roman"/>
                <a:sym typeface="Times New Roman"/>
              </a:rPr>
              <a:t>one ingredient per cell</a:t>
            </a:r>
            <a:r>
              <a:rPr lang="en-GB" sz="1600">
                <a:solidFill>
                  <a:srgbClr val="000000"/>
                </a:solidFill>
                <a:latin typeface="Times New Roman"/>
                <a:ea typeface="Times New Roman"/>
                <a:cs typeface="Times New Roman"/>
                <a:sym typeface="Times New Roman"/>
              </a:rPr>
              <a:t>)</a:t>
            </a:r>
            <a:endParaRPr sz="1600">
              <a:solidFill>
                <a:srgbClr val="000000"/>
              </a:solidFill>
              <a:latin typeface="Times New Roman"/>
              <a:ea typeface="Times New Roman"/>
              <a:cs typeface="Times New Roman"/>
              <a:sym typeface="Times New Roman"/>
            </a:endParaRPr>
          </a:p>
          <a:p>
            <a:pPr indent="-330200" lvl="0" marL="457200" rtl="0" algn="just">
              <a:lnSpc>
                <a:spcPct val="200000"/>
              </a:lnSpc>
              <a:spcBef>
                <a:spcPts val="0"/>
              </a:spcBef>
              <a:spcAft>
                <a:spcPts val="0"/>
              </a:spcAft>
              <a:buClr>
                <a:srgbClr val="000000"/>
              </a:buClr>
              <a:buSzPts val="1600"/>
              <a:buFont typeface="Times New Roman"/>
              <a:buAutoNum type="arabicPeriod"/>
            </a:pPr>
            <a:r>
              <a:rPr b="1" lang="en-GB" sz="1600">
                <a:solidFill>
                  <a:srgbClr val="000000"/>
                </a:solidFill>
                <a:latin typeface="Times New Roman"/>
                <a:ea typeface="Times New Roman"/>
                <a:cs typeface="Times New Roman"/>
                <a:sym typeface="Times New Roman"/>
              </a:rPr>
              <a:t>Normalized terms</a:t>
            </a:r>
            <a:r>
              <a:rPr lang="en-GB" sz="1600">
                <a:solidFill>
                  <a:srgbClr val="000000"/>
                </a:solidFill>
                <a:latin typeface="Times New Roman"/>
                <a:ea typeface="Times New Roman"/>
                <a:cs typeface="Times New Roman"/>
                <a:sym typeface="Times New Roman"/>
              </a:rPr>
              <a:t>, e.g. “popping corn” and “popcorn”, “oat” and “oats”</a:t>
            </a:r>
            <a:endParaRPr sz="1600">
              <a:solidFill>
                <a:srgbClr val="000000"/>
              </a:solidFill>
              <a:latin typeface="Times New Roman"/>
              <a:ea typeface="Times New Roman"/>
              <a:cs typeface="Times New Roman"/>
              <a:sym typeface="Times New Roman"/>
            </a:endParaRPr>
          </a:p>
          <a:p>
            <a:pPr indent="-330200" lvl="0" marL="457200" rtl="0" algn="just">
              <a:lnSpc>
                <a:spcPct val="200000"/>
              </a:lnSpc>
              <a:spcBef>
                <a:spcPts val="0"/>
              </a:spcBef>
              <a:spcAft>
                <a:spcPts val="0"/>
              </a:spcAft>
              <a:buClr>
                <a:srgbClr val="000000"/>
              </a:buClr>
              <a:buSzPts val="1600"/>
              <a:buFont typeface="Times New Roman"/>
              <a:buAutoNum type="arabicPeriod"/>
            </a:pPr>
            <a:r>
              <a:rPr lang="en-GB" sz="1600">
                <a:solidFill>
                  <a:srgbClr val="000000"/>
                </a:solidFill>
                <a:latin typeface="Times New Roman"/>
                <a:ea typeface="Times New Roman"/>
                <a:cs typeface="Times New Roman"/>
                <a:sym typeface="Times New Roman"/>
              </a:rPr>
              <a:t>Fixed </a:t>
            </a:r>
            <a:r>
              <a:rPr b="1" lang="en-GB" sz="1600">
                <a:solidFill>
                  <a:srgbClr val="000000"/>
                </a:solidFill>
                <a:latin typeface="Times New Roman"/>
                <a:ea typeface="Times New Roman"/>
                <a:cs typeface="Times New Roman"/>
                <a:sym typeface="Times New Roman"/>
              </a:rPr>
              <a:t>typos</a:t>
            </a:r>
            <a:endParaRPr b="1" sz="1600">
              <a:solidFill>
                <a:srgbClr val="000000"/>
              </a:solidFill>
              <a:latin typeface="Times New Roman"/>
              <a:ea typeface="Times New Roman"/>
              <a:cs typeface="Times New Roman"/>
              <a:sym typeface="Times New Roman"/>
            </a:endParaRPr>
          </a:p>
          <a:p>
            <a:pPr indent="0" lvl="0" marL="457200" rtl="0" algn="just">
              <a:lnSpc>
                <a:spcPct val="200000"/>
              </a:lnSpc>
              <a:spcBef>
                <a:spcPts val="1700"/>
              </a:spcBef>
              <a:spcAft>
                <a:spcPts val="0"/>
              </a:spcAft>
              <a:buNone/>
            </a:pPr>
            <a:r>
              <a:t/>
            </a:r>
            <a:endParaRPr sz="1600">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805975" y="4107100"/>
            <a:ext cx="5298300" cy="119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3200">
                <a:latin typeface="Times New Roman"/>
                <a:ea typeface="Times New Roman"/>
                <a:cs typeface="Times New Roman"/>
                <a:sym typeface="Times New Roman"/>
              </a:rPr>
              <a:t>Dataset after Preprocessing</a:t>
            </a:r>
            <a:endParaRPr b="1" sz="3200">
              <a:latin typeface="Times New Roman"/>
              <a:ea typeface="Times New Roman"/>
              <a:cs typeface="Times New Roman"/>
              <a:sym typeface="Times New Roman"/>
            </a:endParaRPr>
          </a:p>
        </p:txBody>
      </p:sp>
      <p:pic>
        <p:nvPicPr>
          <p:cNvPr id="157" name="Google Shape;157;p23"/>
          <p:cNvPicPr preferRelativeResize="0"/>
          <p:nvPr/>
        </p:nvPicPr>
        <p:blipFill rotWithShape="1">
          <a:blip r:embed="rId3">
            <a:alphaModFix/>
          </a:blip>
          <a:srcRect b="0" l="6327" r="11178" t="0"/>
          <a:stretch/>
        </p:blipFill>
        <p:spPr>
          <a:xfrm>
            <a:off x="0" y="346600"/>
            <a:ext cx="9144000" cy="36799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120875" y="14142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Applying </a:t>
            </a:r>
            <a:r>
              <a:rPr lang="en-GB"/>
              <a:t>FP-Growth Algorithm on Preprocessed data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3" name="Google Shape;163;p24"/>
          <p:cNvSpPr txBox="1"/>
          <p:nvPr>
            <p:ph idx="1" type="body"/>
          </p:nvPr>
        </p:nvSpPr>
        <p:spPr>
          <a:xfrm>
            <a:off x="311700" y="1060925"/>
            <a:ext cx="5181300" cy="3735600"/>
          </a:xfrm>
          <a:prstGeom prst="rect">
            <a:avLst/>
          </a:prstGeom>
        </p:spPr>
        <p:txBody>
          <a:bodyPr anchorCtr="0" anchor="t" bIns="91425" lIns="91425" spcFirstLastPara="1" rIns="91425" wrap="square" tIns="91425">
            <a:noAutofit/>
          </a:bodyPr>
          <a:lstStyle/>
          <a:p>
            <a:pPr indent="0" lvl="0" marL="457200" rtl="0" algn="just">
              <a:lnSpc>
                <a:spcPct val="150000"/>
              </a:lnSpc>
              <a:spcBef>
                <a:spcPts val="0"/>
              </a:spcBef>
              <a:spcAft>
                <a:spcPts val="0"/>
              </a:spcAft>
              <a:buNone/>
            </a:pPr>
            <a:r>
              <a:rPr b="1" lang="en-GB" u="sng">
                <a:solidFill>
                  <a:srgbClr val="000000"/>
                </a:solidFill>
                <a:latin typeface="Calibri"/>
                <a:ea typeface="Calibri"/>
                <a:cs typeface="Calibri"/>
                <a:sym typeface="Calibri"/>
              </a:rPr>
              <a:t>FP GROWTH ALGORITHM:</a:t>
            </a:r>
            <a:endParaRPr b="1" u="sng">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FP growth is a tree based algorithm to mine frequent patterns in the database.</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It is applicable to projected type databases.</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It uses the divide and conquer method.</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No candidate frequent itemset is needed rather frequent patterns are mined from the fp tree.</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We have used FP growth algorithm, as it was the most efficient algorithm for large datasets.</a:t>
            </a:r>
            <a:endParaRPr>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t/>
            </a:r>
            <a:endParaRPr>
              <a:solidFill>
                <a:srgbClr val="000000"/>
              </a:solidFill>
              <a:latin typeface="Calibri"/>
              <a:ea typeface="Calibri"/>
              <a:cs typeface="Calibri"/>
              <a:sym typeface="Calibri"/>
            </a:endParaRPr>
          </a:p>
        </p:txBody>
      </p:sp>
      <p:pic>
        <p:nvPicPr>
          <p:cNvPr id="164" name="Google Shape;164;p24"/>
          <p:cNvPicPr preferRelativeResize="0"/>
          <p:nvPr/>
        </p:nvPicPr>
        <p:blipFill rotWithShape="1">
          <a:blip r:embed="rId3">
            <a:alphaModFix/>
          </a:blip>
          <a:srcRect b="0" l="0" r="0" t="13254"/>
          <a:stretch/>
        </p:blipFill>
        <p:spPr>
          <a:xfrm>
            <a:off x="5972200" y="749225"/>
            <a:ext cx="2669275" cy="40472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5"/>
          <p:cNvPicPr preferRelativeResize="0"/>
          <p:nvPr/>
        </p:nvPicPr>
        <p:blipFill rotWithShape="1">
          <a:blip r:embed="rId3">
            <a:alphaModFix/>
          </a:blip>
          <a:srcRect b="6759" l="5666" r="37382" t="0"/>
          <a:stretch/>
        </p:blipFill>
        <p:spPr>
          <a:xfrm rot="5400000">
            <a:off x="2275550" y="-1883150"/>
            <a:ext cx="4592900" cy="8681499"/>
          </a:xfrm>
          <a:prstGeom prst="rect">
            <a:avLst/>
          </a:prstGeom>
          <a:noFill/>
          <a:ln>
            <a:noFill/>
          </a:ln>
        </p:spPr>
      </p:pic>
      <p:sp>
        <p:nvSpPr>
          <p:cNvPr id="170" name="Google Shape;170;p25"/>
          <p:cNvSpPr txBox="1"/>
          <p:nvPr/>
        </p:nvSpPr>
        <p:spPr>
          <a:xfrm>
            <a:off x="214875" y="1128075"/>
            <a:ext cx="2699400" cy="1785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GB" sz="1200">
                <a:latin typeface="Times New Roman"/>
                <a:ea typeface="Times New Roman"/>
                <a:cs typeface="Times New Roman"/>
                <a:sym typeface="Times New Roman"/>
              </a:rPr>
              <a:t>Minimum Support: 20%</a:t>
            </a:r>
            <a:br>
              <a:rPr b="1" lang="en-GB" sz="1200">
                <a:latin typeface="Times New Roman"/>
                <a:ea typeface="Times New Roman"/>
                <a:cs typeface="Times New Roman"/>
                <a:sym typeface="Times New Roman"/>
              </a:rPr>
            </a:br>
            <a:r>
              <a:rPr b="1" lang="en-GB" sz="1200">
                <a:latin typeface="Times New Roman"/>
                <a:ea typeface="Times New Roman"/>
                <a:cs typeface="Times New Roman"/>
                <a:sym typeface="Times New Roman"/>
              </a:rPr>
              <a:t>Confidence: 80%</a:t>
            </a:r>
            <a:endParaRPr b="1" sz="1200">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GB" sz="1200">
                <a:latin typeface="Times New Roman"/>
                <a:ea typeface="Times New Roman"/>
                <a:cs typeface="Times New Roman"/>
                <a:sym typeface="Times New Roman"/>
              </a:rPr>
              <a:t>Minimum items in set: 2</a:t>
            </a:r>
            <a:br>
              <a:rPr b="1" lang="en-GB" sz="1200">
                <a:latin typeface="Times New Roman"/>
                <a:ea typeface="Times New Roman"/>
                <a:cs typeface="Times New Roman"/>
                <a:sym typeface="Times New Roman"/>
              </a:rPr>
            </a:br>
            <a:r>
              <a:rPr b="1" lang="en-GB" sz="1200">
                <a:latin typeface="Times New Roman"/>
                <a:ea typeface="Times New Roman"/>
                <a:cs typeface="Times New Roman"/>
                <a:sym typeface="Times New Roman"/>
              </a:rPr>
              <a:t>Total Items found: 8490</a:t>
            </a:r>
            <a:br>
              <a:rPr b="1" lang="en-GB" sz="1200">
                <a:latin typeface="Times New Roman"/>
                <a:ea typeface="Times New Roman"/>
                <a:cs typeface="Times New Roman"/>
                <a:sym typeface="Times New Roman"/>
              </a:rPr>
            </a:br>
            <a:r>
              <a:rPr b="1" lang="en-GB" sz="1200">
                <a:latin typeface="Times New Roman"/>
                <a:ea typeface="Times New Roman"/>
                <a:cs typeface="Times New Roman"/>
                <a:sym typeface="Times New Roman"/>
              </a:rPr>
              <a:t>Time Taken: </a:t>
            </a:r>
            <a:r>
              <a:rPr b="1" lang="en-GB" sz="1200">
                <a:solidFill>
                  <a:srgbClr val="212121"/>
                </a:solidFill>
                <a:highlight>
                  <a:srgbClr val="FFFFFF"/>
                </a:highlight>
                <a:latin typeface="Times New Roman"/>
                <a:ea typeface="Times New Roman"/>
                <a:cs typeface="Times New Roman"/>
                <a:sym typeface="Times New Roman"/>
              </a:rPr>
              <a:t> 0.12604 seconds</a:t>
            </a:r>
            <a:endParaRPr b="1" sz="1200">
              <a:solidFill>
                <a:srgbClr val="21212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a:latin typeface="Roboto"/>
              <a:ea typeface="Roboto"/>
              <a:cs typeface="Roboto"/>
              <a:sym typeface="Roboto"/>
            </a:endParaRPr>
          </a:p>
        </p:txBody>
      </p:sp>
      <p:sp>
        <p:nvSpPr>
          <p:cNvPr id="171" name="Google Shape;171;p25"/>
          <p:cNvSpPr txBox="1"/>
          <p:nvPr/>
        </p:nvSpPr>
        <p:spPr>
          <a:xfrm>
            <a:off x="214875" y="696975"/>
            <a:ext cx="2578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Roboto"/>
                <a:ea typeface="Roboto"/>
                <a:cs typeface="Roboto"/>
                <a:sym typeface="Roboto"/>
              </a:rPr>
              <a:t>RESULTS:</a:t>
            </a:r>
            <a:endParaRPr b="1" sz="1600">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829525" y="161175"/>
            <a:ext cx="3239700" cy="83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2300"/>
              <a:t>INGREDIENTS DISEASE DATASET</a:t>
            </a:r>
            <a:endParaRPr sz="2300"/>
          </a:p>
        </p:txBody>
      </p:sp>
      <p:sp>
        <p:nvSpPr>
          <p:cNvPr id="177" name="Google Shape;177;p26"/>
          <p:cNvSpPr txBox="1"/>
          <p:nvPr>
            <p:ph idx="1" type="subTitle"/>
          </p:nvPr>
        </p:nvSpPr>
        <p:spPr>
          <a:xfrm>
            <a:off x="211775" y="940050"/>
            <a:ext cx="4045200" cy="37200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lang="en-GB" sz="1800"/>
              <a:t>To generate the dataset consisting of disease prone flags, we have created 2 columns (Ingredient Name and Disease prone or not). Based on the data available in research papers.</a:t>
            </a:r>
            <a:endParaRPr sz="1800"/>
          </a:p>
          <a:p>
            <a:pPr indent="0" lvl="0" marL="457200" rtl="0" algn="just">
              <a:spcBef>
                <a:spcPts val="0"/>
              </a:spcBef>
              <a:spcAft>
                <a:spcPts val="0"/>
              </a:spcAft>
              <a:buNone/>
            </a:pPr>
            <a:r>
              <a:t/>
            </a:r>
            <a:endParaRPr sz="1800"/>
          </a:p>
          <a:p>
            <a:pPr indent="-342900" lvl="0" marL="457200" rtl="0" algn="just">
              <a:spcBef>
                <a:spcPts val="0"/>
              </a:spcBef>
              <a:spcAft>
                <a:spcPts val="0"/>
              </a:spcAft>
              <a:buSzPts val="1800"/>
              <a:buChar char="●"/>
            </a:pPr>
            <a:r>
              <a:rPr lang="en-GB" sz="1800"/>
              <a:t>The ingredients were classified into 0 and 1.Flag “1” was stating that the ingredient is prone to the disease, Flag “0” was stating that the ingredient is safe to consume keeping the same disease in mind.</a:t>
            </a:r>
            <a:endParaRPr sz="1800"/>
          </a:p>
          <a:p>
            <a:pPr indent="0" lvl="0" marL="457200" rtl="0" algn="just">
              <a:spcBef>
                <a:spcPts val="0"/>
              </a:spcBef>
              <a:spcAft>
                <a:spcPts val="0"/>
              </a:spcAft>
              <a:buNone/>
            </a:pPr>
            <a:r>
              <a:t/>
            </a:r>
            <a:endParaRPr sz="1800"/>
          </a:p>
        </p:txBody>
      </p:sp>
      <p:pic>
        <p:nvPicPr>
          <p:cNvPr id="178" name="Google Shape;178;p26"/>
          <p:cNvPicPr preferRelativeResize="0"/>
          <p:nvPr/>
        </p:nvPicPr>
        <p:blipFill rotWithShape="1">
          <a:blip r:embed="rId3">
            <a:alphaModFix/>
          </a:blip>
          <a:srcRect b="12342" l="0" r="0" t="0"/>
          <a:stretch/>
        </p:blipFill>
        <p:spPr>
          <a:xfrm>
            <a:off x="4718425" y="161175"/>
            <a:ext cx="4217425" cy="4754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150550" y="101125"/>
            <a:ext cx="51810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300"/>
              <a:t>INGREDIENT-FOOD DATASET</a:t>
            </a:r>
            <a:endParaRPr sz="2300"/>
          </a:p>
        </p:txBody>
      </p:sp>
      <p:sp>
        <p:nvSpPr>
          <p:cNvPr id="184" name="Google Shape;184;p27"/>
          <p:cNvSpPr txBox="1"/>
          <p:nvPr>
            <p:ph idx="1" type="body"/>
          </p:nvPr>
        </p:nvSpPr>
        <p:spPr>
          <a:xfrm>
            <a:off x="4572000" y="0"/>
            <a:ext cx="4448400" cy="4606200"/>
          </a:xfrm>
          <a:prstGeom prst="rect">
            <a:avLst/>
          </a:prstGeom>
        </p:spPr>
        <p:txBody>
          <a:bodyPr anchorCtr="0" anchor="t" bIns="91425" lIns="91425" spcFirstLastPara="1" rIns="91425" wrap="square" tIns="91425">
            <a:noAutofit/>
          </a:bodyPr>
          <a:lstStyle/>
          <a:p>
            <a:pPr indent="-323850" lvl="0" marL="457200" rtl="0" algn="just">
              <a:lnSpc>
                <a:spcPct val="150000"/>
              </a:lnSpc>
              <a:spcBef>
                <a:spcPts val="1700"/>
              </a:spcBef>
              <a:spcAft>
                <a:spcPts val="0"/>
              </a:spcAft>
              <a:buClr>
                <a:srgbClr val="000000"/>
              </a:buClr>
              <a:buSzPts val="1500"/>
              <a:buChar char="●"/>
            </a:pPr>
            <a:r>
              <a:rPr lang="en-GB" sz="1500">
                <a:solidFill>
                  <a:srgbClr val="000000"/>
                </a:solidFill>
                <a:latin typeface="Times New Roman"/>
                <a:ea typeface="Times New Roman"/>
                <a:cs typeface="Times New Roman"/>
                <a:sym typeface="Times New Roman"/>
              </a:rPr>
              <a:t>Using Ingredients dataset, we obtained a dataset of ingredients and the food items that contains them. Tokenized using NLTK library and cleaned</a:t>
            </a:r>
            <a:endParaRPr sz="1500">
              <a:solidFill>
                <a:srgbClr val="000000"/>
              </a:solidFill>
              <a:latin typeface="Times New Roman"/>
              <a:ea typeface="Times New Roman"/>
              <a:cs typeface="Times New Roman"/>
              <a:sym typeface="Times New Roman"/>
            </a:endParaRPr>
          </a:p>
          <a:p>
            <a:pPr indent="-323850" lvl="0" marL="457200" rtl="0" algn="just">
              <a:lnSpc>
                <a:spcPct val="150000"/>
              </a:lnSpc>
              <a:spcBef>
                <a:spcPts val="1700"/>
              </a:spcBef>
              <a:spcAft>
                <a:spcPts val="0"/>
              </a:spcAft>
              <a:buClr>
                <a:srgbClr val="000000"/>
              </a:buClr>
              <a:buSzPts val="1500"/>
              <a:buFont typeface="Times New Roman"/>
              <a:buChar char="●"/>
            </a:pPr>
            <a:r>
              <a:rPr lang="en-GB" sz="1500">
                <a:solidFill>
                  <a:srgbClr val="000000"/>
                </a:solidFill>
                <a:latin typeface="Times New Roman"/>
                <a:ea typeface="Times New Roman"/>
                <a:cs typeface="Times New Roman"/>
                <a:sym typeface="Times New Roman"/>
              </a:rPr>
              <a:t>List of distinct ingredients was formed that contained every non repetitive and distinct ingredient </a:t>
            </a:r>
            <a:endParaRPr sz="1500">
              <a:solidFill>
                <a:srgbClr val="000000"/>
              </a:solidFill>
              <a:latin typeface="Times New Roman"/>
              <a:ea typeface="Times New Roman"/>
              <a:cs typeface="Times New Roman"/>
              <a:sym typeface="Times New Roman"/>
            </a:endParaRPr>
          </a:p>
          <a:p>
            <a:pPr indent="-323850" lvl="0" marL="457200" rtl="0" algn="just">
              <a:lnSpc>
                <a:spcPct val="150000"/>
              </a:lnSpc>
              <a:spcBef>
                <a:spcPts val="1700"/>
              </a:spcBef>
              <a:spcAft>
                <a:spcPts val="0"/>
              </a:spcAft>
              <a:buClr>
                <a:srgbClr val="000000"/>
              </a:buClr>
              <a:buSzPts val="1500"/>
              <a:buFont typeface="Times New Roman"/>
              <a:buChar char="●"/>
            </a:pPr>
            <a:r>
              <a:rPr lang="en-GB" sz="1500">
                <a:solidFill>
                  <a:srgbClr val="000000"/>
                </a:solidFill>
                <a:latin typeface="Times New Roman"/>
                <a:ea typeface="Times New Roman"/>
                <a:cs typeface="Times New Roman"/>
                <a:sym typeface="Times New Roman"/>
              </a:rPr>
              <a:t>From this, every word was looped from the ingredients dataset and all the food items that contained that particular ingredient was saved </a:t>
            </a:r>
            <a:endParaRPr sz="1500">
              <a:solidFill>
                <a:srgbClr val="000000"/>
              </a:solidFill>
              <a:latin typeface="Times New Roman"/>
              <a:ea typeface="Times New Roman"/>
              <a:cs typeface="Times New Roman"/>
              <a:sym typeface="Times New Roman"/>
            </a:endParaRPr>
          </a:p>
          <a:p>
            <a:pPr indent="0" lvl="0" marL="0" rtl="0" algn="just">
              <a:lnSpc>
                <a:spcPct val="150000"/>
              </a:lnSpc>
              <a:spcBef>
                <a:spcPts val="1700"/>
              </a:spcBef>
              <a:spcAft>
                <a:spcPts val="0"/>
              </a:spcAft>
              <a:buNone/>
            </a:pPr>
            <a:r>
              <a:t/>
            </a:r>
            <a:endParaRPr sz="1300">
              <a:solidFill>
                <a:srgbClr val="000000"/>
              </a:solidFill>
              <a:latin typeface="Times New Roman"/>
              <a:ea typeface="Times New Roman"/>
              <a:cs typeface="Times New Roman"/>
              <a:sym typeface="Times New Roman"/>
            </a:endParaRPr>
          </a:p>
          <a:p>
            <a:pPr indent="0" lvl="0" marL="457200" rtl="0" algn="just">
              <a:spcBef>
                <a:spcPts val="0"/>
              </a:spcBef>
              <a:spcAft>
                <a:spcPts val="1600"/>
              </a:spcAft>
              <a:buNone/>
            </a:pPr>
            <a:r>
              <a:t/>
            </a:r>
            <a:endParaRPr sz="1800">
              <a:solidFill>
                <a:srgbClr val="FF0000"/>
              </a:solidFill>
            </a:endParaRPr>
          </a:p>
        </p:txBody>
      </p:sp>
      <p:pic>
        <p:nvPicPr>
          <p:cNvPr id="185" name="Google Shape;185;p27"/>
          <p:cNvPicPr preferRelativeResize="0"/>
          <p:nvPr/>
        </p:nvPicPr>
        <p:blipFill rotWithShape="1">
          <a:blip r:embed="rId3">
            <a:alphaModFix/>
          </a:blip>
          <a:srcRect b="0" l="0" r="22414" t="0"/>
          <a:stretch/>
        </p:blipFill>
        <p:spPr>
          <a:xfrm>
            <a:off x="597675" y="651275"/>
            <a:ext cx="3974325" cy="2097850"/>
          </a:xfrm>
          <a:prstGeom prst="rect">
            <a:avLst/>
          </a:prstGeom>
          <a:noFill/>
          <a:ln>
            <a:noFill/>
          </a:ln>
        </p:spPr>
      </p:pic>
      <p:pic>
        <p:nvPicPr>
          <p:cNvPr id="186" name="Google Shape;186;p27"/>
          <p:cNvPicPr preferRelativeResize="0"/>
          <p:nvPr/>
        </p:nvPicPr>
        <p:blipFill>
          <a:blip r:embed="rId4">
            <a:alphaModFix/>
          </a:blip>
          <a:stretch>
            <a:fillRect/>
          </a:stretch>
        </p:blipFill>
        <p:spPr>
          <a:xfrm>
            <a:off x="3008225" y="2077547"/>
            <a:ext cx="467650" cy="855850"/>
          </a:xfrm>
          <a:prstGeom prst="rect">
            <a:avLst/>
          </a:prstGeom>
          <a:noFill/>
          <a:ln>
            <a:noFill/>
          </a:ln>
        </p:spPr>
      </p:pic>
      <p:pic>
        <p:nvPicPr>
          <p:cNvPr id="187" name="Google Shape;187;p27"/>
          <p:cNvPicPr preferRelativeResize="0"/>
          <p:nvPr/>
        </p:nvPicPr>
        <p:blipFill rotWithShape="1">
          <a:blip r:embed="rId5">
            <a:alphaModFix/>
          </a:blip>
          <a:srcRect b="26438" l="0" r="16121" t="0"/>
          <a:stretch/>
        </p:blipFill>
        <p:spPr>
          <a:xfrm>
            <a:off x="469150" y="3059725"/>
            <a:ext cx="4102849" cy="1694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150550" y="101125"/>
            <a:ext cx="77193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300"/>
              <a:t>INGREDIENT-FOOD - Tokenized ingredients</a:t>
            </a:r>
            <a:endParaRPr sz="2300"/>
          </a:p>
        </p:txBody>
      </p:sp>
      <p:pic>
        <p:nvPicPr>
          <p:cNvPr id="193" name="Google Shape;193;p28"/>
          <p:cNvPicPr preferRelativeResize="0"/>
          <p:nvPr/>
        </p:nvPicPr>
        <p:blipFill>
          <a:blip r:embed="rId3">
            <a:alphaModFix/>
          </a:blip>
          <a:stretch>
            <a:fillRect/>
          </a:stretch>
        </p:blipFill>
        <p:spPr>
          <a:xfrm>
            <a:off x="150550" y="549925"/>
            <a:ext cx="8830476" cy="4262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9"/>
          <p:cNvSpPr txBox="1"/>
          <p:nvPr>
            <p:ph idx="1" type="body"/>
          </p:nvPr>
        </p:nvSpPr>
        <p:spPr>
          <a:xfrm>
            <a:off x="231325" y="1290150"/>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00" name="Google Shape;200;p29"/>
          <p:cNvPicPr preferRelativeResize="0"/>
          <p:nvPr/>
        </p:nvPicPr>
        <p:blipFill rotWithShape="1">
          <a:blip r:embed="rId3">
            <a:alphaModFix/>
          </a:blip>
          <a:srcRect b="12694" l="0" r="13985" t="0"/>
          <a:stretch/>
        </p:blipFill>
        <p:spPr>
          <a:xfrm>
            <a:off x="128850" y="302975"/>
            <a:ext cx="8889475" cy="3804125"/>
          </a:xfrm>
          <a:prstGeom prst="rect">
            <a:avLst/>
          </a:prstGeom>
          <a:noFill/>
          <a:ln>
            <a:noFill/>
          </a:ln>
        </p:spPr>
      </p:pic>
      <p:sp>
        <p:nvSpPr>
          <p:cNvPr id="201" name="Google Shape;201;p29"/>
          <p:cNvSpPr txBox="1"/>
          <p:nvPr>
            <p:ph type="title"/>
          </p:nvPr>
        </p:nvSpPr>
        <p:spPr>
          <a:xfrm>
            <a:off x="128850" y="4107100"/>
            <a:ext cx="6996600" cy="119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3200">
                <a:latin typeface="Times New Roman"/>
                <a:ea typeface="Times New Roman"/>
                <a:cs typeface="Times New Roman"/>
                <a:sym typeface="Times New Roman"/>
              </a:rPr>
              <a:t>INGREDIENT-FOOD DATASET</a:t>
            </a:r>
            <a:endParaRPr b="1" sz="32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type="title"/>
          </p:nvPr>
        </p:nvSpPr>
        <p:spPr>
          <a:xfrm>
            <a:off x="166125" y="107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Suggesting Packaged Food Items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07" name="Google Shape;207;p30"/>
          <p:cNvSpPr txBox="1"/>
          <p:nvPr>
            <p:ph idx="1" type="body"/>
          </p:nvPr>
        </p:nvSpPr>
        <p:spPr>
          <a:xfrm>
            <a:off x="166125" y="496900"/>
            <a:ext cx="8073300" cy="4552500"/>
          </a:xfrm>
          <a:prstGeom prst="rect">
            <a:avLst/>
          </a:prstGeom>
        </p:spPr>
        <p:txBody>
          <a:bodyPr anchorCtr="0" anchor="t" bIns="91425" lIns="91425" spcFirstLastPara="1" rIns="91425" wrap="square" tIns="91425">
            <a:noAutofit/>
          </a:bodyPr>
          <a:lstStyle/>
          <a:p>
            <a:pPr indent="0" lvl="0" marL="0" rtl="0" algn="just">
              <a:lnSpc>
                <a:spcPct val="115000"/>
              </a:lnSpc>
              <a:spcBef>
                <a:spcPts val="1700"/>
              </a:spcBef>
              <a:spcAft>
                <a:spcPts val="0"/>
              </a:spcAft>
              <a:buNone/>
            </a:pPr>
            <a:r>
              <a:rPr lang="en-GB">
                <a:solidFill>
                  <a:srgbClr val="000000"/>
                </a:solidFill>
                <a:latin typeface="Calibri"/>
                <a:ea typeface="Calibri"/>
                <a:cs typeface="Calibri"/>
                <a:sym typeface="Calibri"/>
              </a:rPr>
              <a:t>Based on the results of Fp growth algorithm, most frequent items consumed by the users are then used for suggesting other packaged food items of their choice.</a:t>
            </a:r>
            <a:endParaRPr>
              <a:solidFill>
                <a:srgbClr val="000000"/>
              </a:solidFill>
              <a:latin typeface="Calibri"/>
              <a:ea typeface="Calibri"/>
              <a:cs typeface="Calibri"/>
              <a:sym typeface="Calibri"/>
            </a:endParaRPr>
          </a:p>
          <a:p>
            <a:pPr indent="-342900" lvl="0" marL="914400" rtl="0" algn="just">
              <a:lnSpc>
                <a:spcPct val="115000"/>
              </a:lnSpc>
              <a:spcBef>
                <a:spcPts val="170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Get a list of </a:t>
            </a:r>
            <a:r>
              <a:rPr i="1" lang="en-GB">
                <a:solidFill>
                  <a:srgbClr val="000000"/>
                </a:solidFill>
                <a:latin typeface="Calibri"/>
                <a:ea typeface="Calibri"/>
                <a:cs typeface="Calibri"/>
                <a:sym typeface="Calibri"/>
              </a:rPr>
              <a:t>highest frequency items</a:t>
            </a:r>
            <a:r>
              <a:rPr lang="en-GB">
                <a:solidFill>
                  <a:srgbClr val="000000"/>
                </a:solidFill>
                <a:latin typeface="Calibri"/>
                <a:ea typeface="Calibri"/>
                <a:cs typeface="Calibri"/>
                <a:sym typeface="Calibri"/>
              </a:rPr>
              <a:t>.</a:t>
            </a:r>
            <a:endParaRPr>
              <a:solidFill>
                <a:srgbClr val="000000"/>
              </a:solidFill>
              <a:latin typeface="Calibri"/>
              <a:ea typeface="Calibri"/>
              <a:cs typeface="Calibri"/>
              <a:sym typeface="Calibri"/>
            </a:endParaRPr>
          </a:p>
          <a:p>
            <a:pPr indent="-342900" lvl="0" marL="914400" rtl="0" algn="just">
              <a:lnSpc>
                <a:spcPct val="115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Initialize a list variable as </a:t>
            </a:r>
            <a:r>
              <a:rPr i="1" lang="en-GB">
                <a:solidFill>
                  <a:srgbClr val="000000"/>
                </a:solidFill>
                <a:latin typeface="Calibri"/>
                <a:ea typeface="Calibri"/>
                <a:cs typeface="Calibri"/>
                <a:sym typeface="Calibri"/>
              </a:rPr>
              <a:t>mylist.</a:t>
            </a:r>
            <a:endParaRPr>
              <a:solidFill>
                <a:srgbClr val="000000"/>
              </a:solidFill>
              <a:latin typeface="Calibri"/>
              <a:ea typeface="Calibri"/>
              <a:cs typeface="Calibri"/>
              <a:sym typeface="Calibri"/>
            </a:endParaRPr>
          </a:p>
          <a:p>
            <a:pPr indent="-342900" lvl="0" marL="914400" rtl="0" algn="just">
              <a:lnSpc>
                <a:spcPct val="115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Loop through each value in the</a:t>
            </a:r>
            <a:r>
              <a:rPr i="1" lang="en-GB">
                <a:solidFill>
                  <a:srgbClr val="000000"/>
                </a:solidFill>
                <a:latin typeface="Calibri"/>
                <a:ea typeface="Calibri"/>
                <a:cs typeface="Calibri"/>
                <a:sym typeface="Calibri"/>
              </a:rPr>
              <a:t> highest freq items</a:t>
            </a:r>
            <a:r>
              <a:rPr lang="en-GB">
                <a:solidFill>
                  <a:srgbClr val="000000"/>
                </a:solidFill>
                <a:latin typeface="Calibri"/>
                <a:ea typeface="Calibri"/>
                <a:cs typeface="Calibri"/>
                <a:sym typeface="Calibri"/>
              </a:rPr>
              <a:t> list.</a:t>
            </a:r>
            <a:endParaRPr>
              <a:solidFill>
                <a:srgbClr val="000000"/>
              </a:solidFill>
              <a:latin typeface="Calibri"/>
              <a:ea typeface="Calibri"/>
              <a:cs typeface="Calibri"/>
              <a:sym typeface="Calibri"/>
            </a:endParaRPr>
          </a:p>
          <a:p>
            <a:pPr indent="-342900" lvl="0" marL="914400" rtl="0" algn="just">
              <a:lnSpc>
                <a:spcPct val="115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For every ingredient in the </a:t>
            </a:r>
            <a:r>
              <a:rPr i="1" lang="en-GB">
                <a:solidFill>
                  <a:srgbClr val="000000"/>
                </a:solidFill>
                <a:latin typeface="Calibri"/>
                <a:ea typeface="Calibri"/>
                <a:cs typeface="Calibri"/>
                <a:sym typeface="Calibri"/>
              </a:rPr>
              <a:t>Ingredient food dataset</a:t>
            </a:r>
            <a:r>
              <a:rPr lang="en-GB">
                <a:solidFill>
                  <a:srgbClr val="000000"/>
                </a:solidFill>
                <a:latin typeface="Calibri"/>
                <a:ea typeface="Calibri"/>
                <a:cs typeface="Calibri"/>
                <a:sym typeface="Calibri"/>
              </a:rPr>
              <a:t>.</a:t>
            </a:r>
            <a:endParaRPr>
              <a:solidFill>
                <a:srgbClr val="000000"/>
              </a:solidFill>
              <a:latin typeface="Calibri"/>
              <a:ea typeface="Calibri"/>
              <a:cs typeface="Calibri"/>
              <a:sym typeface="Calibri"/>
            </a:endParaRPr>
          </a:p>
          <a:p>
            <a:pPr indent="-342900" lvl="0" marL="914400" rtl="0" algn="just">
              <a:lnSpc>
                <a:spcPct val="115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If the highest frequency item name is equal to ingredient name.</a:t>
            </a:r>
            <a:endParaRPr>
              <a:solidFill>
                <a:srgbClr val="000000"/>
              </a:solidFill>
              <a:latin typeface="Calibri"/>
              <a:ea typeface="Calibri"/>
              <a:cs typeface="Calibri"/>
              <a:sym typeface="Calibri"/>
            </a:endParaRPr>
          </a:p>
          <a:p>
            <a:pPr indent="-342900" lvl="1" marL="1371600" rtl="0" algn="just">
              <a:lnSpc>
                <a:spcPct val="115000"/>
              </a:lnSpc>
              <a:spcBef>
                <a:spcPts val="0"/>
              </a:spcBef>
              <a:spcAft>
                <a:spcPts val="0"/>
              </a:spcAft>
              <a:buClr>
                <a:srgbClr val="000000"/>
              </a:buClr>
              <a:buSzPts val="1800"/>
              <a:buFont typeface="Calibri"/>
              <a:buAutoNum type="alphaLcPeriod"/>
            </a:pPr>
            <a:r>
              <a:rPr lang="en-GB" sz="1800">
                <a:solidFill>
                  <a:srgbClr val="000000"/>
                </a:solidFill>
                <a:latin typeface="Calibri"/>
                <a:ea typeface="Calibri"/>
                <a:cs typeface="Calibri"/>
                <a:sym typeface="Calibri"/>
              </a:rPr>
              <a:t>then append mylist.</a:t>
            </a:r>
            <a:endParaRPr sz="1800">
              <a:solidFill>
                <a:srgbClr val="000000"/>
              </a:solidFill>
              <a:latin typeface="Calibri"/>
              <a:ea typeface="Calibri"/>
              <a:cs typeface="Calibri"/>
              <a:sym typeface="Calibri"/>
            </a:endParaRPr>
          </a:p>
          <a:p>
            <a:pPr indent="-342900" lvl="0" marL="914400" rtl="0" algn="just">
              <a:lnSpc>
                <a:spcPct val="115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else</a:t>
            </a:r>
            <a:endParaRPr>
              <a:solidFill>
                <a:srgbClr val="000000"/>
              </a:solidFill>
              <a:latin typeface="Calibri"/>
              <a:ea typeface="Calibri"/>
              <a:cs typeface="Calibri"/>
              <a:sym typeface="Calibri"/>
            </a:endParaRPr>
          </a:p>
          <a:p>
            <a:pPr indent="-342900" lvl="1" marL="1371600" rtl="0" algn="just">
              <a:lnSpc>
                <a:spcPct val="115000"/>
              </a:lnSpc>
              <a:spcBef>
                <a:spcPts val="0"/>
              </a:spcBef>
              <a:spcAft>
                <a:spcPts val="0"/>
              </a:spcAft>
              <a:buClr>
                <a:srgbClr val="000000"/>
              </a:buClr>
              <a:buSzPts val="1800"/>
              <a:buFont typeface="Calibri"/>
              <a:buAutoNum type="alphaLcPeriod"/>
            </a:pPr>
            <a:r>
              <a:rPr lang="en-GB" sz="1800">
                <a:solidFill>
                  <a:srgbClr val="000000"/>
                </a:solidFill>
                <a:latin typeface="Calibri"/>
                <a:ea typeface="Calibri"/>
                <a:cs typeface="Calibri"/>
                <a:sym typeface="Calibri"/>
              </a:rPr>
              <a:t>do nothing</a:t>
            </a:r>
            <a:endParaRPr sz="1800">
              <a:solidFill>
                <a:srgbClr val="000000"/>
              </a:solidFill>
              <a:latin typeface="Calibri"/>
              <a:ea typeface="Calibri"/>
              <a:cs typeface="Calibri"/>
              <a:sym typeface="Calibri"/>
            </a:endParaRPr>
          </a:p>
          <a:p>
            <a:pPr indent="-342900" lvl="0" marL="914400" rtl="0" algn="just">
              <a:lnSpc>
                <a:spcPct val="115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end if</a:t>
            </a:r>
            <a:endParaRPr>
              <a:solidFill>
                <a:srgbClr val="000000"/>
              </a:solidFill>
              <a:latin typeface="Calibri"/>
              <a:ea typeface="Calibri"/>
              <a:cs typeface="Calibri"/>
              <a:sym typeface="Calibri"/>
            </a:endParaRPr>
          </a:p>
          <a:p>
            <a:pPr indent="-342900" lvl="0" marL="914400" rtl="0" algn="just">
              <a:lnSpc>
                <a:spcPct val="115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make a set of </a:t>
            </a:r>
            <a:r>
              <a:rPr i="1" lang="en-GB">
                <a:solidFill>
                  <a:srgbClr val="000000"/>
                </a:solidFill>
                <a:latin typeface="Calibri"/>
                <a:ea typeface="Calibri"/>
                <a:cs typeface="Calibri"/>
                <a:sym typeface="Calibri"/>
              </a:rPr>
              <a:t>mylist</a:t>
            </a:r>
            <a:r>
              <a:rPr lang="en-GB">
                <a:solidFill>
                  <a:srgbClr val="000000"/>
                </a:solidFill>
                <a:latin typeface="Calibri"/>
                <a:ea typeface="Calibri"/>
                <a:cs typeface="Calibri"/>
                <a:sym typeface="Calibri"/>
              </a:rPr>
              <a:t> items and print the set items.</a:t>
            </a:r>
            <a:endParaRPr>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1"/>
          <p:cNvSpPr txBox="1"/>
          <p:nvPr>
            <p:ph idx="1" type="body"/>
          </p:nvPr>
        </p:nvSpPr>
        <p:spPr>
          <a:xfrm>
            <a:off x="311700" y="658050"/>
            <a:ext cx="8686200" cy="41496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GB" sz="1650">
                <a:solidFill>
                  <a:srgbClr val="D5D5D5"/>
                </a:solidFill>
                <a:highlight>
                  <a:srgbClr val="383838"/>
                </a:highlight>
                <a:latin typeface="Courier New"/>
                <a:ea typeface="Courier New"/>
                <a:cs typeface="Courier New"/>
                <a:sym typeface="Courier New"/>
              </a:rPr>
              <a:t>['BACK TO NATURE CEREAL ORANGE CRUNCH GRAN',</a:t>
            </a:r>
            <a:endParaRPr sz="1650">
              <a:solidFill>
                <a:srgbClr val="D5D5D5"/>
              </a:solidFill>
              <a:highlight>
                <a:srgbClr val="383838"/>
              </a:highlight>
              <a:latin typeface="Courier New"/>
              <a:ea typeface="Courier New"/>
              <a:cs typeface="Courier New"/>
              <a:sym typeface="Courier New"/>
            </a:endParaRPr>
          </a:p>
          <a:p>
            <a:pPr indent="0" lvl="0" marL="0" rtl="0" algn="just">
              <a:lnSpc>
                <a:spcPct val="150000"/>
              </a:lnSpc>
              <a:spcBef>
                <a:spcPts val="0"/>
              </a:spcBef>
              <a:spcAft>
                <a:spcPts val="0"/>
              </a:spcAft>
              <a:buNone/>
            </a:pPr>
            <a:r>
              <a:rPr lang="en-GB" sz="1650">
                <a:solidFill>
                  <a:srgbClr val="D5D5D5"/>
                </a:solidFill>
                <a:highlight>
                  <a:srgbClr val="383838"/>
                </a:highlight>
                <a:latin typeface="Courier New"/>
                <a:ea typeface="Courier New"/>
                <a:cs typeface="Courier New"/>
                <a:sym typeface="Courier New"/>
              </a:rPr>
              <a:t> "Erin Baker's Homestyle Granola", </a:t>
            </a:r>
            <a:endParaRPr sz="1650">
              <a:solidFill>
                <a:srgbClr val="D5D5D5"/>
              </a:solidFill>
              <a:highlight>
                <a:srgbClr val="383838"/>
              </a:highlight>
              <a:latin typeface="Courier New"/>
              <a:ea typeface="Courier New"/>
              <a:cs typeface="Courier New"/>
              <a:sym typeface="Courier New"/>
            </a:endParaRPr>
          </a:p>
          <a:p>
            <a:pPr indent="0" lvl="0" marL="0" rtl="0" algn="just">
              <a:lnSpc>
                <a:spcPct val="150000"/>
              </a:lnSpc>
              <a:spcBef>
                <a:spcPts val="0"/>
              </a:spcBef>
              <a:spcAft>
                <a:spcPts val="0"/>
              </a:spcAft>
              <a:buNone/>
            </a:pPr>
            <a:r>
              <a:rPr lang="en-GB" sz="1650">
                <a:solidFill>
                  <a:srgbClr val="D5D5D5"/>
                </a:solidFill>
                <a:highlight>
                  <a:srgbClr val="383838"/>
                </a:highlight>
                <a:latin typeface="Courier New"/>
                <a:ea typeface="Courier New"/>
                <a:cs typeface="Courier New"/>
                <a:sym typeface="Courier New"/>
              </a:rPr>
              <a:t>'Russell Stover Assorted Fine Chocolates, 7.0 Oz',</a:t>
            </a:r>
            <a:endParaRPr sz="1650">
              <a:solidFill>
                <a:srgbClr val="D5D5D5"/>
              </a:solidFill>
              <a:highlight>
                <a:srgbClr val="383838"/>
              </a:highlight>
              <a:latin typeface="Courier New"/>
              <a:ea typeface="Courier New"/>
              <a:cs typeface="Courier New"/>
              <a:sym typeface="Courier New"/>
            </a:endParaRPr>
          </a:p>
          <a:p>
            <a:pPr indent="0" lvl="0" marL="0" rtl="0" algn="just">
              <a:lnSpc>
                <a:spcPct val="150000"/>
              </a:lnSpc>
              <a:spcBef>
                <a:spcPts val="0"/>
              </a:spcBef>
              <a:spcAft>
                <a:spcPts val="0"/>
              </a:spcAft>
              <a:buNone/>
            </a:pPr>
            <a:r>
              <a:rPr lang="en-GB" sz="1650">
                <a:solidFill>
                  <a:srgbClr val="D5D5D5"/>
                </a:solidFill>
                <a:highlight>
                  <a:srgbClr val="383838"/>
                </a:highlight>
                <a:latin typeface="Courier New"/>
                <a:ea typeface="Courier New"/>
                <a:cs typeface="Courier New"/>
                <a:sym typeface="Courier New"/>
              </a:rPr>
              <a:t> 'Honey Mustard',</a:t>
            </a:r>
            <a:endParaRPr sz="1650">
              <a:solidFill>
                <a:srgbClr val="D5D5D5"/>
              </a:solidFill>
              <a:highlight>
                <a:srgbClr val="383838"/>
              </a:highlight>
              <a:latin typeface="Courier New"/>
              <a:ea typeface="Courier New"/>
              <a:cs typeface="Courier New"/>
              <a:sym typeface="Courier New"/>
            </a:endParaRPr>
          </a:p>
          <a:p>
            <a:pPr indent="0" lvl="0" marL="0" rtl="0" algn="just">
              <a:lnSpc>
                <a:spcPct val="150000"/>
              </a:lnSpc>
              <a:spcBef>
                <a:spcPts val="0"/>
              </a:spcBef>
              <a:spcAft>
                <a:spcPts val="0"/>
              </a:spcAft>
              <a:buNone/>
            </a:pPr>
            <a:r>
              <a:rPr lang="en-GB" sz="1650">
                <a:solidFill>
                  <a:srgbClr val="D5D5D5"/>
                </a:solidFill>
                <a:highlight>
                  <a:srgbClr val="383838"/>
                </a:highlight>
                <a:latin typeface="Courier New"/>
                <a:ea typeface="Courier New"/>
                <a:cs typeface="Courier New"/>
                <a:sym typeface="Courier New"/>
              </a:rPr>
              <a:t> 'Iced Tea - Unsweetened Brewed',</a:t>
            </a:r>
            <a:endParaRPr sz="1650">
              <a:solidFill>
                <a:srgbClr val="D5D5D5"/>
              </a:solidFill>
              <a:highlight>
                <a:srgbClr val="383838"/>
              </a:highlight>
              <a:latin typeface="Courier New"/>
              <a:ea typeface="Courier New"/>
              <a:cs typeface="Courier New"/>
              <a:sym typeface="Courier New"/>
            </a:endParaRPr>
          </a:p>
          <a:p>
            <a:pPr indent="0" lvl="0" marL="0" rtl="0" algn="just">
              <a:lnSpc>
                <a:spcPct val="150000"/>
              </a:lnSpc>
              <a:spcBef>
                <a:spcPts val="0"/>
              </a:spcBef>
              <a:spcAft>
                <a:spcPts val="0"/>
              </a:spcAft>
              <a:buNone/>
            </a:pPr>
            <a:r>
              <a:rPr lang="en-GB" sz="1650">
                <a:solidFill>
                  <a:srgbClr val="D5D5D5"/>
                </a:solidFill>
                <a:highlight>
                  <a:srgbClr val="383838"/>
                </a:highlight>
                <a:latin typeface="Courier New"/>
                <a:ea typeface="Courier New"/>
                <a:cs typeface="Courier New"/>
                <a:sym typeface="Courier New"/>
              </a:rPr>
              <a:t> "Herr's Real Chocolate Covered Pretzel Sticks, 5 Oz",</a:t>
            </a:r>
            <a:endParaRPr sz="1650">
              <a:solidFill>
                <a:srgbClr val="D5D5D5"/>
              </a:solidFill>
              <a:highlight>
                <a:srgbClr val="383838"/>
              </a:highlight>
              <a:latin typeface="Courier New"/>
              <a:ea typeface="Courier New"/>
              <a:cs typeface="Courier New"/>
              <a:sym typeface="Courier New"/>
            </a:endParaRPr>
          </a:p>
          <a:p>
            <a:pPr indent="0" lvl="0" marL="0" rtl="0" algn="just">
              <a:lnSpc>
                <a:spcPct val="150000"/>
              </a:lnSpc>
              <a:spcBef>
                <a:spcPts val="0"/>
              </a:spcBef>
              <a:spcAft>
                <a:spcPts val="0"/>
              </a:spcAft>
              <a:buNone/>
            </a:pPr>
            <a:r>
              <a:rPr lang="en-GB" sz="1650">
                <a:solidFill>
                  <a:srgbClr val="D5D5D5"/>
                </a:solidFill>
                <a:highlight>
                  <a:srgbClr val="383838"/>
                </a:highlight>
                <a:latin typeface="Courier New"/>
                <a:ea typeface="Courier New"/>
                <a:cs typeface="Courier New"/>
                <a:sym typeface="Courier New"/>
              </a:rPr>
              <a:t> 'Russell Stover Assorted Fine Chocolates, 34.0 Oz', </a:t>
            </a:r>
            <a:endParaRPr sz="1650">
              <a:solidFill>
                <a:srgbClr val="D5D5D5"/>
              </a:solidFill>
              <a:highlight>
                <a:srgbClr val="383838"/>
              </a:highlight>
              <a:latin typeface="Courier New"/>
              <a:ea typeface="Courier New"/>
              <a:cs typeface="Courier New"/>
              <a:sym typeface="Courier New"/>
            </a:endParaRPr>
          </a:p>
          <a:p>
            <a:pPr indent="0" lvl="0" marL="0" rtl="0" algn="just">
              <a:lnSpc>
                <a:spcPct val="150000"/>
              </a:lnSpc>
              <a:spcBef>
                <a:spcPts val="0"/>
              </a:spcBef>
              <a:spcAft>
                <a:spcPts val="0"/>
              </a:spcAft>
              <a:buNone/>
            </a:pPr>
            <a:r>
              <a:rPr lang="en-GB" sz="1650">
                <a:solidFill>
                  <a:srgbClr val="D5D5D5"/>
                </a:solidFill>
                <a:highlight>
                  <a:srgbClr val="383838"/>
                </a:highlight>
                <a:latin typeface="Courier New"/>
                <a:ea typeface="Courier New"/>
                <a:cs typeface="Courier New"/>
                <a:sym typeface="Courier New"/>
              </a:rPr>
              <a:t>"Nature's Path Organic Heritage Crunch Cereal, 14.0 Oz",</a:t>
            </a:r>
            <a:endParaRPr sz="1650">
              <a:solidFill>
                <a:srgbClr val="D5D5D5"/>
              </a:solidFill>
              <a:highlight>
                <a:srgbClr val="383838"/>
              </a:highlight>
              <a:latin typeface="Courier New"/>
              <a:ea typeface="Courier New"/>
              <a:cs typeface="Courier New"/>
              <a:sym typeface="Courier New"/>
            </a:endParaRPr>
          </a:p>
          <a:p>
            <a:pPr indent="0" lvl="0" marL="0" rtl="0" algn="just">
              <a:lnSpc>
                <a:spcPct val="150000"/>
              </a:lnSpc>
              <a:spcBef>
                <a:spcPts val="0"/>
              </a:spcBef>
              <a:spcAft>
                <a:spcPts val="0"/>
              </a:spcAft>
              <a:buNone/>
            </a:pPr>
            <a:r>
              <a:rPr lang="en-GB" sz="1650">
                <a:solidFill>
                  <a:srgbClr val="D5D5D5"/>
                </a:solidFill>
                <a:highlight>
                  <a:srgbClr val="383838"/>
                </a:highlight>
                <a:latin typeface="Courier New"/>
                <a:ea typeface="Courier New"/>
                <a:cs typeface="Courier New"/>
                <a:sym typeface="Courier New"/>
              </a:rPr>
              <a:t> 'Quaker Real Medleys Fruit &amp; Nut Multigrain Bars, Cherry Pistachio, 1.34 Oz Bar, 10/box -qkr31799',</a:t>
            </a:r>
            <a:endParaRPr sz="1650">
              <a:solidFill>
                <a:srgbClr val="D5D5D5"/>
              </a:solidFill>
              <a:highlight>
                <a:srgbClr val="383838"/>
              </a:highlight>
              <a:latin typeface="Courier New"/>
              <a:ea typeface="Courier New"/>
              <a:cs typeface="Courier New"/>
              <a:sym typeface="Courier New"/>
            </a:endParaRPr>
          </a:p>
          <a:p>
            <a:pPr indent="0" lvl="0" marL="0" rtl="0" algn="just">
              <a:lnSpc>
                <a:spcPct val="150000"/>
              </a:lnSpc>
              <a:spcBef>
                <a:spcPts val="0"/>
              </a:spcBef>
              <a:spcAft>
                <a:spcPts val="0"/>
              </a:spcAft>
              <a:buNone/>
            </a:pPr>
            <a:r>
              <a:rPr lang="en-GB" sz="1650">
                <a:solidFill>
                  <a:srgbClr val="D5D5D5"/>
                </a:solidFill>
                <a:highlight>
                  <a:srgbClr val="383838"/>
                </a:highlight>
                <a:latin typeface="Courier New"/>
                <a:ea typeface="Courier New"/>
                <a:cs typeface="Courier New"/>
                <a:sym typeface="Courier New"/>
              </a:rPr>
              <a:t> 'Bakery On Main Gluten Free Non-gmo Nut Crunch Snack']</a:t>
            </a:r>
            <a:endParaRPr sz="1650">
              <a:solidFill>
                <a:srgbClr val="D5D5D5"/>
              </a:solidFill>
              <a:highlight>
                <a:srgbClr val="383838"/>
              </a:highlight>
              <a:latin typeface="Courier New"/>
              <a:ea typeface="Courier New"/>
              <a:cs typeface="Courier New"/>
              <a:sym typeface="Courier New"/>
            </a:endParaRPr>
          </a:p>
          <a:p>
            <a:pPr indent="0" lvl="0" marL="0" rtl="0" algn="l">
              <a:spcBef>
                <a:spcPts val="0"/>
              </a:spcBef>
              <a:spcAft>
                <a:spcPts val="1600"/>
              </a:spcAft>
              <a:buNone/>
            </a:pPr>
            <a:r>
              <a:t/>
            </a:r>
            <a:endParaRPr sz="2000"/>
          </a:p>
        </p:txBody>
      </p:sp>
      <p:sp>
        <p:nvSpPr>
          <p:cNvPr id="213" name="Google Shape;213;p31"/>
          <p:cNvSpPr txBox="1"/>
          <p:nvPr>
            <p:ph type="title"/>
          </p:nvPr>
        </p:nvSpPr>
        <p:spPr>
          <a:xfrm>
            <a:off x="263175" y="9945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Result after food suggestion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type="title"/>
          </p:nvPr>
        </p:nvSpPr>
        <p:spPr>
          <a:xfrm>
            <a:off x="190850" y="10742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Health Tip Generation</a:t>
            </a:r>
            <a:endParaRPr/>
          </a:p>
          <a:p>
            <a:pPr indent="0" lvl="0" marL="0" rtl="0" algn="l">
              <a:spcBef>
                <a:spcPts val="0"/>
              </a:spcBef>
              <a:spcAft>
                <a:spcPts val="0"/>
              </a:spcAft>
              <a:buNone/>
            </a:pPr>
            <a:r>
              <a:t/>
            </a:r>
            <a:endParaRPr/>
          </a:p>
        </p:txBody>
      </p:sp>
      <p:sp>
        <p:nvSpPr>
          <p:cNvPr id="219" name="Google Shape;219;p32"/>
          <p:cNvSpPr txBox="1"/>
          <p:nvPr>
            <p:ph idx="1" type="body"/>
          </p:nvPr>
        </p:nvSpPr>
        <p:spPr>
          <a:xfrm>
            <a:off x="293625" y="335725"/>
            <a:ext cx="8073300" cy="4073700"/>
          </a:xfrm>
          <a:prstGeom prst="rect">
            <a:avLst/>
          </a:prstGeom>
        </p:spPr>
        <p:txBody>
          <a:bodyPr anchorCtr="0" anchor="t" bIns="91425" lIns="91425" spcFirstLastPara="1" rIns="91425" wrap="square" tIns="91425">
            <a:noAutofit/>
          </a:bodyPr>
          <a:lstStyle/>
          <a:p>
            <a:pPr indent="0" lvl="0" marL="0" rtl="0" algn="just">
              <a:lnSpc>
                <a:spcPct val="150000"/>
              </a:lnSpc>
              <a:spcBef>
                <a:spcPts val="1700"/>
              </a:spcBef>
              <a:spcAft>
                <a:spcPts val="0"/>
              </a:spcAft>
              <a:buNone/>
            </a:pPr>
            <a:r>
              <a:rPr lang="en-GB">
                <a:solidFill>
                  <a:srgbClr val="000000"/>
                </a:solidFill>
                <a:latin typeface="Calibri"/>
                <a:ea typeface="Calibri"/>
                <a:cs typeface="Calibri"/>
                <a:sym typeface="Calibri"/>
              </a:rPr>
              <a:t>Algorithm:</a:t>
            </a:r>
            <a:endParaRPr>
              <a:solidFill>
                <a:srgbClr val="000000"/>
              </a:solidFill>
              <a:latin typeface="Calibri"/>
              <a:ea typeface="Calibri"/>
              <a:cs typeface="Calibri"/>
              <a:sym typeface="Calibri"/>
            </a:endParaRPr>
          </a:p>
          <a:p>
            <a:pPr indent="-342900" lvl="0" marL="914400" rtl="0" algn="just">
              <a:lnSpc>
                <a:spcPct val="150000"/>
              </a:lnSpc>
              <a:spcBef>
                <a:spcPts val="170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Get a list of </a:t>
            </a:r>
            <a:r>
              <a:rPr i="1" lang="en-GB">
                <a:solidFill>
                  <a:srgbClr val="000000"/>
                </a:solidFill>
                <a:latin typeface="Calibri"/>
                <a:ea typeface="Calibri"/>
                <a:cs typeface="Calibri"/>
                <a:sym typeface="Calibri"/>
              </a:rPr>
              <a:t>highest frequency items</a:t>
            </a:r>
            <a:r>
              <a:rPr lang="en-GB">
                <a:solidFill>
                  <a:srgbClr val="000000"/>
                </a:solidFill>
                <a:latin typeface="Calibri"/>
                <a:ea typeface="Calibri"/>
                <a:cs typeface="Calibri"/>
                <a:sym typeface="Calibri"/>
              </a:rPr>
              <a:t>.</a:t>
            </a:r>
            <a:endParaRPr>
              <a:solidFill>
                <a:srgbClr val="000000"/>
              </a:solidFill>
              <a:latin typeface="Calibri"/>
              <a:ea typeface="Calibri"/>
              <a:cs typeface="Calibri"/>
              <a:sym typeface="Calibri"/>
            </a:endParaRPr>
          </a:p>
          <a:p>
            <a:pPr indent="-342900" lvl="0" marL="914400" rtl="0" algn="just">
              <a:lnSpc>
                <a:spcPct val="150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Initialize a list variable as </a:t>
            </a:r>
            <a:r>
              <a:rPr i="1" lang="en-GB">
                <a:solidFill>
                  <a:srgbClr val="000000"/>
                </a:solidFill>
                <a:latin typeface="Calibri"/>
                <a:ea typeface="Calibri"/>
                <a:cs typeface="Calibri"/>
                <a:sym typeface="Calibri"/>
              </a:rPr>
              <a:t>mylist.</a:t>
            </a:r>
            <a:endParaRPr>
              <a:solidFill>
                <a:srgbClr val="000000"/>
              </a:solidFill>
              <a:latin typeface="Calibri"/>
              <a:ea typeface="Calibri"/>
              <a:cs typeface="Calibri"/>
              <a:sym typeface="Calibri"/>
            </a:endParaRPr>
          </a:p>
          <a:p>
            <a:pPr indent="-342900" lvl="0" marL="914400" rtl="0" algn="just">
              <a:lnSpc>
                <a:spcPct val="150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Loop through each value in the</a:t>
            </a:r>
            <a:r>
              <a:rPr i="1" lang="en-GB">
                <a:solidFill>
                  <a:srgbClr val="000000"/>
                </a:solidFill>
                <a:latin typeface="Calibri"/>
                <a:ea typeface="Calibri"/>
                <a:cs typeface="Calibri"/>
                <a:sym typeface="Calibri"/>
              </a:rPr>
              <a:t> highest freq items</a:t>
            </a:r>
            <a:r>
              <a:rPr lang="en-GB">
                <a:solidFill>
                  <a:srgbClr val="000000"/>
                </a:solidFill>
                <a:latin typeface="Calibri"/>
                <a:ea typeface="Calibri"/>
                <a:cs typeface="Calibri"/>
                <a:sym typeface="Calibri"/>
              </a:rPr>
              <a:t> list.</a:t>
            </a:r>
            <a:endParaRPr>
              <a:solidFill>
                <a:srgbClr val="000000"/>
              </a:solidFill>
              <a:latin typeface="Calibri"/>
              <a:ea typeface="Calibri"/>
              <a:cs typeface="Calibri"/>
              <a:sym typeface="Calibri"/>
            </a:endParaRPr>
          </a:p>
          <a:p>
            <a:pPr indent="-342900" lvl="0" marL="914400" rtl="0" algn="just">
              <a:lnSpc>
                <a:spcPct val="150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For every ingredient </a:t>
            </a:r>
            <a:r>
              <a:rPr i="1" lang="en-GB">
                <a:solidFill>
                  <a:srgbClr val="000000"/>
                </a:solidFill>
                <a:latin typeface="Calibri"/>
                <a:ea typeface="Calibri"/>
                <a:cs typeface="Calibri"/>
                <a:sym typeface="Calibri"/>
              </a:rPr>
              <a:t>i </a:t>
            </a:r>
            <a:r>
              <a:rPr lang="en-GB">
                <a:solidFill>
                  <a:srgbClr val="000000"/>
                </a:solidFill>
                <a:latin typeface="Calibri"/>
                <a:ea typeface="Calibri"/>
                <a:cs typeface="Calibri"/>
                <a:sym typeface="Calibri"/>
              </a:rPr>
              <a:t>in </a:t>
            </a:r>
            <a:r>
              <a:rPr i="1" lang="en-GB">
                <a:solidFill>
                  <a:srgbClr val="000000"/>
                </a:solidFill>
                <a:latin typeface="Calibri"/>
                <a:ea typeface="Calibri"/>
                <a:cs typeface="Calibri"/>
                <a:sym typeface="Calibri"/>
              </a:rPr>
              <a:t>disease dataset.</a:t>
            </a:r>
            <a:endParaRPr i="1">
              <a:solidFill>
                <a:srgbClr val="000000"/>
              </a:solidFill>
              <a:latin typeface="Calibri"/>
              <a:ea typeface="Calibri"/>
              <a:cs typeface="Calibri"/>
              <a:sym typeface="Calibri"/>
            </a:endParaRPr>
          </a:p>
          <a:p>
            <a:pPr indent="-342900" lvl="0" marL="914400" rtl="0" algn="just">
              <a:lnSpc>
                <a:spcPct val="150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If the highest frequency item name is equal to ingredient name.</a:t>
            </a:r>
            <a:endParaRPr>
              <a:solidFill>
                <a:srgbClr val="000000"/>
              </a:solidFill>
              <a:latin typeface="Calibri"/>
              <a:ea typeface="Calibri"/>
              <a:cs typeface="Calibri"/>
              <a:sym typeface="Calibri"/>
            </a:endParaRPr>
          </a:p>
          <a:p>
            <a:pPr indent="-342900" lvl="1" marL="1371600" rtl="0" algn="just">
              <a:lnSpc>
                <a:spcPct val="150000"/>
              </a:lnSpc>
              <a:spcBef>
                <a:spcPts val="0"/>
              </a:spcBef>
              <a:spcAft>
                <a:spcPts val="0"/>
              </a:spcAft>
              <a:buClr>
                <a:srgbClr val="000000"/>
              </a:buClr>
              <a:buSzPts val="1800"/>
              <a:buFont typeface="Calibri"/>
              <a:buAutoNum type="alphaLcPeriod"/>
            </a:pPr>
            <a:r>
              <a:rPr lang="en-GB" sz="1800">
                <a:solidFill>
                  <a:srgbClr val="000000"/>
                </a:solidFill>
                <a:latin typeface="Calibri"/>
                <a:ea typeface="Calibri"/>
                <a:cs typeface="Calibri"/>
                <a:sym typeface="Calibri"/>
              </a:rPr>
              <a:t>Then print “</a:t>
            </a:r>
            <a:r>
              <a:rPr i="1" lang="en-GB" sz="1800">
                <a:solidFill>
                  <a:srgbClr val="000000"/>
                </a:solidFill>
                <a:latin typeface="Calibri"/>
                <a:ea typeface="Calibri"/>
                <a:cs typeface="Calibri"/>
                <a:sym typeface="Calibri"/>
              </a:rPr>
              <a:t>Ingredient i </a:t>
            </a:r>
            <a:r>
              <a:rPr lang="en-GB" sz="1800">
                <a:solidFill>
                  <a:srgbClr val="000000"/>
                </a:solidFill>
                <a:latin typeface="Calibri"/>
                <a:ea typeface="Calibri"/>
                <a:cs typeface="Calibri"/>
                <a:sym typeface="Calibri"/>
              </a:rPr>
              <a:t>is harmful for your health.”</a:t>
            </a:r>
            <a:endParaRPr sz="1800">
              <a:solidFill>
                <a:srgbClr val="000000"/>
              </a:solidFill>
              <a:latin typeface="Calibri"/>
              <a:ea typeface="Calibri"/>
              <a:cs typeface="Calibri"/>
              <a:sym typeface="Calibri"/>
            </a:endParaRPr>
          </a:p>
          <a:p>
            <a:pPr indent="-342900" lvl="0" marL="914400" rtl="0" algn="just">
              <a:lnSpc>
                <a:spcPct val="150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else</a:t>
            </a:r>
            <a:endParaRPr>
              <a:solidFill>
                <a:srgbClr val="000000"/>
              </a:solidFill>
              <a:latin typeface="Calibri"/>
              <a:ea typeface="Calibri"/>
              <a:cs typeface="Calibri"/>
              <a:sym typeface="Calibri"/>
            </a:endParaRPr>
          </a:p>
          <a:p>
            <a:pPr indent="-342900" lvl="1" marL="1371600" rtl="0" algn="just">
              <a:lnSpc>
                <a:spcPct val="150000"/>
              </a:lnSpc>
              <a:spcBef>
                <a:spcPts val="0"/>
              </a:spcBef>
              <a:spcAft>
                <a:spcPts val="0"/>
              </a:spcAft>
              <a:buClr>
                <a:srgbClr val="000000"/>
              </a:buClr>
              <a:buSzPts val="1800"/>
              <a:buFont typeface="Calibri"/>
              <a:buAutoNum type="alphaLcPeriod"/>
            </a:pPr>
            <a:r>
              <a:rPr lang="en-GB" sz="1800">
                <a:solidFill>
                  <a:srgbClr val="000000"/>
                </a:solidFill>
                <a:latin typeface="Calibri"/>
                <a:ea typeface="Calibri"/>
                <a:cs typeface="Calibri"/>
                <a:sym typeface="Calibri"/>
              </a:rPr>
              <a:t>do nothing</a:t>
            </a:r>
            <a:endParaRPr sz="1800">
              <a:solidFill>
                <a:srgbClr val="000000"/>
              </a:solidFill>
              <a:latin typeface="Calibri"/>
              <a:ea typeface="Calibri"/>
              <a:cs typeface="Calibri"/>
              <a:sym typeface="Calibri"/>
            </a:endParaRPr>
          </a:p>
          <a:p>
            <a:pPr indent="-342900" lvl="0" marL="914400" rtl="0" algn="just">
              <a:lnSpc>
                <a:spcPct val="150000"/>
              </a:lnSpc>
              <a:spcBef>
                <a:spcPts val="0"/>
              </a:spcBef>
              <a:spcAft>
                <a:spcPts val="0"/>
              </a:spcAft>
              <a:buClr>
                <a:srgbClr val="000000"/>
              </a:buClr>
              <a:buSzPts val="1800"/>
              <a:buFont typeface="Calibri"/>
              <a:buAutoNum type="arabicPeriod"/>
            </a:pPr>
            <a:r>
              <a:rPr lang="en-GB">
                <a:solidFill>
                  <a:srgbClr val="000000"/>
                </a:solidFill>
                <a:latin typeface="Calibri"/>
                <a:ea typeface="Calibri"/>
                <a:cs typeface="Calibri"/>
                <a:sym typeface="Calibri"/>
              </a:rPr>
              <a:t>end if</a:t>
            </a:r>
            <a:endParaRPr sz="1500">
              <a:solidFill>
                <a:srgbClr val="000000"/>
              </a:solidFill>
              <a:latin typeface="Calibri"/>
              <a:ea typeface="Calibri"/>
              <a:cs typeface="Calibri"/>
              <a:sym typeface="Calibri"/>
            </a:endParaRPr>
          </a:p>
        </p:txBody>
      </p:sp>
      <p:sp>
        <p:nvSpPr>
          <p:cNvPr id="220" name="Google Shape;220;p32"/>
          <p:cNvSpPr txBox="1"/>
          <p:nvPr/>
        </p:nvSpPr>
        <p:spPr>
          <a:xfrm>
            <a:off x="4861475" y="715225"/>
            <a:ext cx="41553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oboto"/>
              <a:buChar char="●"/>
            </a:pPr>
            <a:r>
              <a:rPr b="1" lang="en-GB">
                <a:latin typeface="Roboto"/>
                <a:ea typeface="Roboto"/>
                <a:cs typeface="Roboto"/>
                <a:sym typeface="Roboto"/>
              </a:rPr>
              <a:t>Used disease dataset.</a:t>
            </a:r>
            <a:endParaRPr b="1">
              <a:latin typeface="Roboto"/>
              <a:ea typeface="Roboto"/>
              <a:cs typeface="Roboto"/>
              <a:sym typeface="Roboto"/>
            </a:endParaRPr>
          </a:p>
          <a:p>
            <a:pPr indent="-317500" lvl="0" marL="457200" rtl="0" algn="l">
              <a:spcBef>
                <a:spcPts val="0"/>
              </a:spcBef>
              <a:spcAft>
                <a:spcPts val="0"/>
              </a:spcAft>
              <a:buSzPts val="1400"/>
              <a:buFont typeface="Roboto"/>
              <a:buChar char="●"/>
            </a:pPr>
            <a:r>
              <a:rPr b="1" lang="en-GB">
                <a:latin typeface="Roboto"/>
                <a:ea typeface="Roboto"/>
                <a:cs typeface="Roboto"/>
                <a:sym typeface="Roboto"/>
              </a:rPr>
              <a:t>If any ingredient is disease prone then the user will get notified.</a:t>
            </a:r>
            <a:endParaRPr b="1">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3"/>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BINARY SEARCH</a:t>
            </a:r>
            <a:endParaRPr/>
          </a:p>
        </p:txBody>
      </p:sp>
      <p:sp>
        <p:nvSpPr>
          <p:cNvPr id="226" name="Google Shape;226;p33"/>
          <p:cNvSpPr txBox="1"/>
          <p:nvPr>
            <p:ph idx="1" type="body"/>
          </p:nvPr>
        </p:nvSpPr>
        <p:spPr>
          <a:xfrm>
            <a:off x="311700" y="1229875"/>
            <a:ext cx="2911500" cy="333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algorithm works on the principle of divide and conquer</a:t>
            </a:r>
            <a:endParaRPr/>
          </a:p>
          <a:p>
            <a:pPr indent="-342900" lvl="0" marL="457200" rtl="0" algn="l">
              <a:spcBef>
                <a:spcPts val="0"/>
              </a:spcBef>
              <a:spcAft>
                <a:spcPts val="0"/>
              </a:spcAft>
              <a:buSzPts val="1800"/>
              <a:buChar char="●"/>
            </a:pPr>
            <a:r>
              <a:rPr lang="en-GB"/>
              <a:t>the data collection should be in the sorted form.</a:t>
            </a:r>
            <a:endParaRPr/>
          </a:p>
          <a:p>
            <a:pPr indent="-342900" lvl="0" marL="457200" rtl="0" algn="l">
              <a:spcBef>
                <a:spcPts val="0"/>
              </a:spcBef>
              <a:spcAft>
                <a:spcPts val="0"/>
              </a:spcAft>
              <a:buSzPts val="1800"/>
              <a:buChar char="●"/>
            </a:pPr>
            <a:r>
              <a:rPr lang="en-GB"/>
              <a:t>Best for large and sorted datasets</a:t>
            </a:r>
            <a:endParaRPr/>
          </a:p>
        </p:txBody>
      </p:sp>
      <p:pic>
        <p:nvPicPr>
          <p:cNvPr id="227" name="Google Shape;227;p33"/>
          <p:cNvPicPr preferRelativeResize="0"/>
          <p:nvPr/>
        </p:nvPicPr>
        <p:blipFill>
          <a:blip r:embed="rId3">
            <a:alphaModFix/>
          </a:blip>
          <a:stretch>
            <a:fillRect/>
          </a:stretch>
        </p:blipFill>
        <p:spPr>
          <a:xfrm>
            <a:off x="3504900" y="170181"/>
            <a:ext cx="5504800" cy="439869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4"/>
          <p:cNvSpPr txBox="1"/>
          <p:nvPr>
            <p:ph type="title"/>
          </p:nvPr>
        </p:nvSpPr>
        <p:spPr>
          <a:xfrm>
            <a:off x="190850" y="10742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Health Tip Generation</a:t>
            </a:r>
            <a:endParaRPr/>
          </a:p>
          <a:p>
            <a:pPr indent="0" lvl="0" marL="0" rtl="0" algn="l">
              <a:spcBef>
                <a:spcPts val="0"/>
              </a:spcBef>
              <a:spcAft>
                <a:spcPts val="0"/>
              </a:spcAft>
              <a:buNone/>
            </a:pPr>
            <a:r>
              <a:t/>
            </a:r>
            <a:endParaRPr/>
          </a:p>
        </p:txBody>
      </p:sp>
      <p:sp>
        <p:nvSpPr>
          <p:cNvPr id="233" name="Google Shape;233;p34"/>
          <p:cNvSpPr txBox="1"/>
          <p:nvPr>
            <p:ph idx="1" type="body"/>
          </p:nvPr>
        </p:nvSpPr>
        <p:spPr>
          <a:xfrm>
            <a:off x="293625" y="335725"/>
            <a:ext cx="8073300" cy="4073700"/>
          </a:xfrm>
          <a:prstGeom prst="rect">
            <a:avLst/>
          </a:prstGeom>
        </p:spPr>
        <p:txBody>
          <a:bodyPr anchorCtr="0" anchor="t" bIns="91425" lIns="91425" spcFirstLastPara="1" rIns="91425" wrap="square" tIns="91425">
            <a:noAutofit/>
          </a:bodyPr>
          <a:lstStyle/>
          <a:p>
            <a:pPr indent="0" lvl="0" marL="0" rtl="0" algn="just">
              <a:lnSpc>
                <a:spcPct val="150000"/>
              </a:lnSpc>
              <a:spcBef>
                <a:spcPts val="1700"/>
              </a:spcBef>
              <a:spcAft>
                <a:spcPts val="0"/>
              </a:spcAft>
              <a:buNone/>
            </a:pPr>
            <a:r>
              <a:rPr lang="en-GB">
                <a:solidFill>
                  <a:srgbClr val="000000"/>
                </a:solidFill>
                <a:latin typeface="Calibri"/>
                <a:ea typeface="Calibri"/>
                <a:cs typeface="Calibri"/>
                <a:sym typeface="Calibri"/>
              </a:rPr>
              <a:t>Improved </a:t>
            </a:r>
            <a:r>
              <a:rPr lang="en-GB">
                <a:solidFill>
                  <a:srgbClr val="000000"/>
                </a:solidFill>
                <a:latin typeface="Calibri"/>
                <a:ea typeface="Calibri"/>
                <a:cs typeface="Calibri"/>
                <a:sym typeface="Calibri"/>
              </a:rPr>
              <a:t>Algorithm:</a:t>
            </a:r>
            <a:endParaRPr>
              <a:solidFill>
                <a:srgbClr val="000000"/>
              </a:solidFill>
              <a:latin typeface="Calibri"/>
              <a:ea typeface="Calibri"/>
              <a:cs typeface="Calibri"/>
              <a:sym typeface="Calibri"/>
            </a:endParaRPr>
          </a:p>
          <a:p>
            <a:pPr indent="-317500" lvl="0" marL="914400" rtl="0" algn="just">
              <a:lnSpc>
                <a:spcPct val="150000"/>
              </a:lnSpc>
              <a:spcBef>
                <a:spcPts val="1700"/>
              </a:spcBef>
              <a:spcAft>
                <a:spcPts val="0"/>
              </a:spcAft>
              <a:buClr>
                <a:srgbClr val="000000"/>
              </a:buClr>
              <a:buSzPts val="1400"/>
              <a:buFont typeface="Times New Roman"/>
              <a:buAutoNum type="arabicPeriod"/>
            </a:pPr>
            <a:r>
              <a:rPr lang="en-GB" sz="1400">
                <a:solidFill>
                  <a:srgbClr val="000000"/>
                </a:solidFill>
                <a:latin typeface="Times New Roman"/>
                <a:ea typeface="Times New Roman"/>
                <a:cs typeface="Times New Roman"/>
                <a:sym typeface="Times New Roman"/>
              </a:rPr>
              <a:t>Get a list of </a:t>
            </a:r>
            <a:r>
              <a:rPr i="1" lang="en-GB" sz="1400">
                <a:solidFill>
                  <a:srgbClr val="000000"/>
                </a:solidFill>
                <a:latin typeface="Times New Roman"/>
                <a:ea typeface="Times New Roman"/>
                <a:cs typeface="Times New Roman"/>
                <a:sym typeface="Times New Roman"/>
              </a:rPr>
              <a:t>highest frequency items</a:t>
            </a:r>
            <a:r>
              <a:rPr lang="en-GB" sz="1400">
                <a:solidFill>
                  <a:srgbClr val="000000"/>
                </a:solidFill>
                <a:latin typeface="Times New Roman"/>
                <a:ea typeface="Times New Roman"/>
                <a:cs typeface="Times New Roman"/>
                <a:sym typeface="Times New Roman"/>
              </a:rPr>
              <a:t>.</a:t>
            </a:r>
            <a:endParaRPr sz="1400">
              <a:solidFill>
                <a:srgbClr val="000000"/>
              </a:solidFill>
              <a:latin typeface="Times New Roman"/>
              <a:ea typeface="Times New Roman"/>
              <a:cs typeface="Times New Roman"/>
              <a:sym typeface="Times New Roman"/>
            </a:endParaRPr>
          </a:p>
          <a:p>
            <a:pPr indent="-317500" lvl="0" marL="914400" rtl="0" algn="just">
              <a:lnSpc>
                <a:spcPct val="150000"/>
              </a:lnSpc>
              <a:spcBef>
                <a:spcPts val="0"/>
              </a:spcBef>
              <a:spcAft>
                <a:spcPts val="0"/>
              </a:spcAft>
              <a:buClr>
                <a:srgbClr val="000000"/>
              </a:buClr>
              <a:buSzPts val="1400"/>
              <a:buFont typeface="Times New Roman"/>
              <a:buAutoNum type="arabicPeriod"/>
            </a:pPr>
            <a:r>
              <a:rPr lang="en-GB" sz="1400">
                <a:solidFill>
                  <a:srgbClr val="000000"/>
                </a:solidFill>
                <a:latin typeface="Times New Roman"/>
                <a:ea typeface="Times New Roman"/>
                <a:cs typeface="Times New Roman"/>
                <a:sym typeface="Times New Roman"/>
              </a:rPr>
              <a:t>Initialize a list variable as </a:t>
            </a:r>
            <a:r>
              <a:rPr i="1" lang="en-GB" sz="1400">
                <a:solidFill>
                  <a:srgbClr val="000000"/>
                </a:solidFill>
                <a:latin typeface="Times New Roman"/>
                <a:ea typeface="Times New Roman"/>
                <a:cs typeface="Times New Roman"/>
                <a:sym typeface="Times New Roman"/>
              </a:rPr>
              <a:t>mylist.</a:t>
            </a:r>
            <a:endParaRPr sz="1400">
              <a:solidFill>
                <a:srgbClr val="000000"/>
              </a:solidFill>
              <a:latin typeface="Times New Roman"/>
              <a:ea typeface="Times New Roman"/>
              <a:cs typeface="Times New Roman"/>
              <a:sym typeface="Times New Roman"/>
            </a:endParaRPr>
          </a:p>
          <a:p>
            <a:pPr indent="-317500" lvl="0" marL="914400" rtl="0" algn="just">
              <a:lnSpc>
                <a:spcPct val="150000"/>
              </a:lnSpc>
              <a:spcBef>
                <a:spcPts val="0"/>
              </a:spcBef>
              <a:spcAft>
                <a:spcPts val="0"/>
              </a:spcAft>
              <a:buClr>
                <a:srgbClr val="000000"/>
              </a:buClr>
              <a:buSzPts val="1400"/>
              <a:buFont typeface="Times New Roman"/>
              <a:buAutoNum type="arabicPeriod"/>
            </a:pPr>
            <a:r>
              <a:rPr lang="en-GB" sz="1400">
                <a:solidFill>
                  <a:srgbClr val="000000"/>
                </a:solidFill>
                <a:latin typeface="Times New Roman"/>
                <a:ea typeface="Times New Roman"/>
                <a:cs typeface="Times New Roman"/>
                <a:sym typeface="Times New Roman"/>
              </a:rPr>
              <a:t>Loop through each value in the</a:t>
            </a:r>
            <a:r>
              <a:rPr i="1" lang="en-GB" sz="1400">
                <a:solidFill>
                  <a:srgbClr val="000000"/>
                </a:solidFill>
                <a:latin typeface="Times New Roman"/>
                <a:ea typeface="Times New Roman"/>
                <a:cs typeface="Times New Roman"/>
                <a:sym typeface="Times New Roman"/>
              </a:rPr>
              <a:t> highest freq items</a:t>
            </a:r>
            <a:r>
              <a:rPr lang="en-GB" sz="1400">
                <a:solidFill>
                  <a:srgbClr val="000000"/>
                </a:solidFill>
                <a:latin typeface="Times New Roman"/>
                <a:ea typeface="Times New Roman"/>
                <a:cs typeface="Times New Roman"/>
                <a:sym typeface="Times New Roman"/>
              </a:rPr>
              <a:t> list.</a:t>
            </a:r>
            <a:endParaRPr sz="1400">
              <a:solidFill>
                <a:srgbClr val="000000"/>
              </a:solidFill>
              <a:latin typeface="Times New Roman"/>
              <a:ea typeface="Times New Roman"/>
              <a:cs typeface="Times New Roman"/>
              <a:sym typeface="Times New Roman"/>
            </a:endParaRPr>
          </a:p>
          <a:p>
            <a:pPr indent="-317500" lvl="0" marL="914400" rtl="0" algn="just">
              <a:lnSpc>
                <a:spcPct val="150000"/>
              </a:lnSpc>
              <a:spcBef>
                <a:spcPts val="0"/>
              </a:spcBef>
              <a:spcAft>
                <a:spcPts val="0"/>
              </a:spcAft>
              <a:buClr>
                <a:srgbClr val="000000"/>
              </a:buClr>
              <a:buSzPts val="1400"/>
              <a:buFont typeface="Times New Roman"/>
              <a:buAutoNum type="arabicPeriod"/>
            </a:pPr>
            <a:r>
              <a:rPr lang="en-GB" sz="1400">
                <a:solidFill>
                  <a:srgbClr val="000000"/>
                </a:solidFill>
                <a:latin typeface="Times New Roman"/>
                <a:ea typeface="Times New Roman"/>
                <a:cs typeface="Times New Roman"/>
                <a:sym typeface="Times New Roman"/>
              </a:rPr>
              <a:t>Apply </a:t>
            </a:r>
            <a:r>
              <a:rPr i="1" lang="en-GB" sz="1400">
                <a:solidFill>
                  <a:srgbClr val="000000"/>
                </a:solidFill>
                <a:latin typeface="Times New Roman"/>
                <a:ea typeface="Times New Roman"/>
                <a:cs typeface="Times New Roman"/>
                <a:sym typeface="Times New Roman"/>
              </a:rPr>
              <a:t>binary search algorithm</a:t>
            </a:r>
            <a:r>
              <a:rPr lang="en-GB" sz="1400">
                <a:solidFill>
                  <a:srgbClr val="000000"/>
                </a:solidFill>
                <a:latin typeface="Times New Roman"/>
                <a:ea typeface="Times New Roman"/>
                <a:cs typeface="Times New Roman"/>
                <a:sym typeface="Times New Roman"/>
              </a:rPr>
              <a:t> for every ingredient in the</a:t>
            </a:r>
            <a:r>
              <a:rPr i="1" lang="en-GB" sz="1400">
                <a:solidFill>
                  <a:srgbClr val="000000"/>
                </a:solidFill>
                <a:latin typeface="Times New Roman"/>
                <a:ea typeface="Times New Roman"/>
                <a:cs typeface="Times New Roman"/>
                <a:sym typeface="Times New Roman"/>
              </a:rPr>
              <a:t> disease dataset.</a:t>
            </a:r>
            <a:endParaRPr i="1" sz="1400">
              <a:solidFill>
                <a:srgbClr val="000000"/>
              </a:solidFill>
              <a:latin typeface="Times New Roman"/>
              <a:ea typeface="Times New Roman"/>
              <a:cs typeface="Times New Roman"/>
              <a:sym typeface="Times New Roman"/>
            </a:endParaRPr>
          </a:p>
          <a:p>
            <a:pPr indent="-317500" lvl="0" marL="914400" rtl="0" algn="just">
              <a:lnSpc>
                <a:spcPct val="150000"/>
              </a:lnSpc>
              <a:spcBef>
                <a:spcPts val="0"/>
              </a:spcBef>
              <a:spcAft>
                <a:spcPts val="0"/>
              </a:spcAft>
              <a:buClr>
                <a:srgbClr val="000000"/>
              </a:buClr>
              <a:buSzPts val="1400"/>
              <a:buFont typeface="Times New Roman"/>
              <a:buAutoNum type="arabicPeriod"/>
            </a:pPr>
            <a:r>
              <a:rPr lang="en-GB" sz="1400">
                <a:solidFill>
                  <a:srgbClr val="000000"/>
                </a:solidFill>
                <a:latin typeface="Times New Roman"/>
                <a:ea typeface="Times New Roman"/>
                <a:cs typeface="Times New Roman"/>
                <a:sym typeface="Times New Roman"/>
              </a:rPr>
              <a:t>initialize a variable</a:t>
            </a:r>
            <a:r>
              <a:rPr i="1" lang="en-GB" sz="1400">
                <a:solidFill>
                  <a:srgbClr val="000000"/>
                </a:solidFill>
                <a:latin typeface="Times New Roman"/>
                <a:ea typeface="Times New Roman"/>
                <a:cs typeface="Times New Roman"/>
                <a:sym typeface="Times New Roman"/>
              </a:rPr>
              <a:t> val.</a:t>
            </a:r>
            <a:endParaRPr i="1" sz="1400">
              <a:solidFill>
                <a:srgbClr val="000000"/>
              </a:solidFill>
              <a:latin typeface="Times New Roman"/>
              <a:ea typeface="Times New Roman"/>
              <a:cs typeface="Times New Roman"/>
              <a:sym typeface="Times New Roman"/>
            </a:endParaRPr>
          </a:p>
          <a:p>
            <a:pPr indent="-317500" lvl="0" marL="914400" rtl="0" algn="just">
              <a:lnSpc>
                <a:spcPct val="150000"/>
              </a:lnSpc>
              <a:spcBef>
                <a:spcPts val="0"/>
              </a:spcBef>
              <a:spcAft>
                <a:spcPts val="0"/>
              </a:spcAft>
              <a:buClr>
                <a:srgbClr val="000000"/>
              </a:buClr>
              <a:buSzPts val="1400"/>
              <a:buFont typeface="Times New Roman"/>
              <a:buAutoNum type="arabicPeriod"/>
            </a:pPr>
            <a:r>
              <a:rPr lang="en-GB" sz="1400">
                <a:solidFill>
                  <a:srgbClr val="000000"/>
                </a:solidFill>
                <a:latin typeface="Times New Roman"/>
                <a:ea typeface="Times New Roman"/>
                <a:cs typeface="Times New Roman"/>
                <a:sym typeface="Times New Roman"/>
              </a:rPr>
              <a:t>If the ingredient </a:t>
            </a:r>
            <a:r>
              <a:rPr i="1" lang="en-GB" sz="1400">
                <a:solidFill>
                  <a:srgbClr val="000000"/>
                </a:solidFill>
                <a:latin typeface="Times New Roman"/>
                <a:ea typeface="Times New Roman"/>
                <a:cs typeface="Times New Roman"/>
                <a:sym typeface="Times New Roman"/>
              </a:rPr>
              <a:t>i</a:t>
            </a:r>
            <a:r>
              <a:rPr lang="en-GB" sz="1400">
                <a:solidFill>
                  <a:srgbClr val="000000"/>
                </a:solidFill>
                <a:latin typeface="Times New Roman"/>
                <a:ea typeface="Times New Roman"/>
                <a:cs typeface="Times New Roman"/>
                <a:sym typeface="Times New Roman"/>
              </a:rPr>
              <a:t> is found in the</a:t>
            </a:r>
            <a:r>
              <a:rPr i="1" lang="en-GB" sz="1400">
                <a:solidFill>
                  <a:srgbClr val="000000"/>
                </a:solidFill>
                <a:latin typeface="Times New Roman"/>
                <a:ea typeface="Times New Roman"/>
                <a:cs typeface="Times New Roman"/>
                <a:sym typeface="Times New Roman"/>
              </a:rPr>
              <a:t> Disease dataset.</a:t>
            </a:r>
            <a:endParaRPr i="1" sz="1400">
              <a:solidFill>
                <a:srgbClr val="000000"/>
              </a:solidFill>
              <a:latin typeface="Times New Roman"/>
              <a:ea typeface="Times New Roman"/>
              <a:cs typeface="Times New Roman"/>
              <a:sym typeface="Times New Roman"/>
            </a:endParaRPr>
          </a:p>
          <a:p>
            <a:pPr indent="-317500" lvl="1" marL="1371600" rtl="0" algn="just">
              <a:lnSpc>
                <a:spcPct val="150000"/>
              </a:lnSpc>
              <a:spcBef>
                <a:spcPts val="0"/>
              </a:spcBef>
              <a:spcAft>
                <a:spcPts val="0"/>
              </a:spcAft>
              <a:buClr>
                <a:srgbClr val="000000"/>
              </a:buClr>
              <a:buSzPts val="1400"/>
              <a:buFont typeface="Times New Roman"/>
              <a:buAutoNum type="alphaLcPeriod"/>
            </a:pPr>
            <a:r>
              <a:rPr lang="en-GB">
                <a:solidFill>
                  <a:srgbClr val="000000"/>
                </a:solidFill>
                <a:latin typeface="Times New Roman"/>
                <a:ea typeface="Times New Roman"/>
                <a:cs typeface="Times New Roman"/>
                <a:sym typeface="Times New Roman"/>
              </a:rPr>
              <a:t>set val -&gt; index of ingredient returned</a:t>
            </a:r>
            <a:endParaRPr>
              <a:solidFill>
                <a:srgbClr val="000000"/>
              </a:solidFill>
              <a:latin typeface="Times New Roman"/>
              <a:ea typeface="Times New Roman"/>
              <a:cs typeface="Times New Roman"/>
              <a:sym typeface="Times New Roman"/>
            </a:endParaRPr>
          </a:p>
          <a:p>
            <a:pPr indent="-317500" lvl="0" marL="914400" rtl="0" algn="just">
              <a:lnSpc>
                <a:spcPct val="150000"/>
              </a:lnSpc>
              <a:spcBef>
                <a:spcPts val="0"/>
              </a:spcBef>
              <a:spcAft>
                <a:spcPts val="0"/>
              </a:spcAft>
              <a:buClr>
                <a:srgbClr val="000000"/>
              </a:buClr>
              <a:buSzPts val="1400"/>
              <a:buFont typeface="Times New Roman"/>
              <a:buAutoNum type="arabicPeriod"/>
            </a:pPr>
            <a:r>
              <a:rPr lang="en-GB" sz="1400">
                <a:solidFill>
                  <a:srgbClr val="000000"/>
                </a:solidFill>
                <a:latin typeface="Times New Roman"/>
                <a:ea typeface="Times New Roman"/>
                <a:cs typeface="Times New Roman"/>
                <a:sym typeface="Times New Roman"/>
              </a:rPr>
              <a:t>Else</a:t>
            </a:r>
            <a:endParaRPr sz="1400">
              <a:solidFill>
                <a:srgbClr val="000000"/>
              </a:solidFill>
              <a:latin typeface="Times New Roman"/>
              <a:ea typeface="Times New Roman"/>
              <a:cs typeface="Times New Roman"/>
              <a:sym typeface="Times New Roman"/>
            </a:endParaRPr>
          </a:p>
          <a:p>
            <a:pPr indent="-317500" lvl="1" marL="1371600" rtl="0" algn="just">
              <a:lnSpc>
                <a:spcPct val="150000"/>
              </a:lnSpc>
              <a:spcBef>
                <a:spcPts val="0"/>
              </a:spcBef>
              <a:spcAft>
                <a:spcPts val="0"/>
              </a:spcAft>
              <a:buClr>
                <a:srgbClr val="000000"/>
              </a:buClr>
              <a:buSzPts val="1400"/>
              <a:buFont typeface="Times New Roman"/>
              <a:buAutoNum type="alphaLcPeriod"/>
            </a:pPr>
            <a:r>
              <a:rPr lang="en-GB">
                <a:solidFill>
                  <a:srgbClr val="000000"/>
                </a:solidFill>
                <a:latin typeface="Times New Roman"/>
                <a:ea typeface="Times New Roman"/>
                <a:cs typeface="Times New Roman"/>
                <a:sym typeface="Times New Roman"/>
              </a:rPr>
              <a:t>set val as -1</a:t>
            </a:r>
            <a:endParaRPr sz="1400">
              <a:solidFill>
                <a:srgbClr val="000000"/>
              </a:solidFill>
              <a:latin typeface="Times New Roman"/>
              <a:ea typeface="Times New Roman"/>
              <a:cs typeface="Times New Roman"/>
              <a:sym typeface="Times New Roman"/>
            </a:endParaRPr>
          </a:p>
          <a:p>
            <a:pPr indent="-317500" lvl="0" marL="914400" rtl="0" algn="just">
              <a:lnSpc>
                <a:spcPct val="150000"/>
              </a:lnSpc>
              <a:spcBef>
                <a:spcPts val="0"/>
              </a:spcBef>
              <a:spcAft>
                <a:spcPts val="0"/>
              </a:spcAft>
              <a:buClr>
                <a:srgbClr val="000000"/>
              </a:buClr>
              <a:buSzPts val="1400"/>
              <a:buFont typeface="Times New Roman"/>
              <a:buAutoNum type="arabicPeriod"/>
            </a:pPr>
            <a:r>
              <a:rPr lang="en-GB" sz="1400">
                <a:solidFill>
                  <a:srgbClr val="000000"/>
                </a:solidFill>
                <a:latin typeface="Times New Roman"/>
                <a:ea typeface="Times New Roman"/>
                <a:cs typeface="Times New Roman"/>
                <a:sym typeface="Times New Roman"/>
              </a:rPr>
              <a:t>if val is equal to -1</a:t>
            </a:r>
            <a:endParaRPr sz="1400">
              <a:solidFill>
                <a:srgbClr val="000000"/>
              </a:solidFill>
              <a:latin typeface="Times New Roman"/>
              <a:ea typeface="Times New Roman"/>
              <a:cs typeface="Times New Roman"/>
              <a:sym typeface="Times New Roman"/>
            </a:endParaRPr>
          </a:p>
          <a:p>
            <a:pPr indent="-317500" lvl="1" marL="1371600" rtl="0" algn="just">
              <a:lnSpc>
                <a:spcPct val="150000"/>
              </a:lnSpc>
              <a:spcBef>
                <a:spcPts val="0"/>
              </a:spcBef>
              <a:spcAft>
                <a:spcPts val="0"/>
              </a:spcAft>
              <a:buClr>
                <a:srgbClr val="000000"/>
              </a:buClr>
              <a:buSzPts val="1400"/>
              <a:buFont typeface="Times New Roman"/>
              <a:buAutoNum type="alphaLcPeriod"/>
            </a:pPr>
            <a:r>
              <a:rPr lang="en-GB">
                <a:solidFill>
                  <a:srgbClr val="000000"/>
                </a:solidFill>
                <a:latin typeface="Times New Roman"/>
                <a:ea typeface="Times New Roman"/>
                <a:cs typeface="Times New Roman"/>
                <a:sym typeface="Times New Roman"/>
              </a:rPr>
              <a:t>Then print “</a:t>
            </a:r>
            <a:r>
              <a:rPr i="1" lang="en-GB">
                <a:solidFill>
                  <a:srgbClr val="000000"/>
                </a:solidFill>
                <a:latin typeface="Times New Roman"/>
                <a:ea typeface="Times New Roman"/>
                <a:cs typeface="Times New Roman"/>
                <a:sym typeface="Times New Roman"/>
              </a:rPr>
              <a:t>Ingredient i </a:t>
            </a:r>
            <a:r>
              <a:rPr lang="en-GB">
                <a:solidFill>
                  <a:srgbClr val="000000"/>
                </a:solidFill>
                <a:latin typeface="Times New Roman"/>
                <a:ea typeface="Times New Roman"/>
                <a:cs typeface="Times New Roman"/>
                <a:sym typeface="Times New Roman"/>
              </a:rPr>
              <a:t>is harmful for your health.”</a:t>
            </a:r>
            <a:endParaRPr sz="1600">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Result after health tip generation</a:t>
            </a:r>
            <a:endParaRPr/>
          </a:p>
        </p:txBody>
      </p:sp>
      <p:pic>
        <p:nvPicPr>
          <p:cNvPr id="239" name="Google Shape;239;p35"/>
          <p:cNvPicPr preferRelativeResize="0"/>
          <p:nvPr/>
        </p:nvPicPr>
        <p:blipFill>
          <a:blip r:embed="rId3">
            <a:alphaModFix/>
          </a:blip>
          <a:stretch>
            <a:fillRect/>
          </a:stretch>
        </p:blipFill>
        <p:spPr>
          <a:xfrm>
            <a:off x="674025" y="1223350"/>
            <a:ext cx="7524200" cy="29065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6"/>
          <p:cNvSpPr txBox="1"/>
          <p:nvPr>
            <p:ph type="title"/>
          </p:nvPr>
        </p:nvSpPr>
        <p:spPr>
          <a:xfrm>
            <a:off x="311700" y="23922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Health Star Rating</a:t>
            </a:r>
            <a:endParaRPr/>
          </a:p>
        </p:txBody>
      </p:sp>
      <p:sp>
        <p:nvSpPr>
          <p:cNvPr id="245" name="Google Shape;245;p36"/>
          <p:cNvSpPr txBox="1"/>
          <p:nvPr>
            <p:ph idx="1" type="body"/>
          </p:nvPr>
        </p:nvSpPr>
        <p:spPr>
          <a:xfrm>
            <a:off x="311700" y="958625"/>
            <a:ext cx="8520600" cy="375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212121"/>
                </a:solidFill>
                <a:latin typeface="Calibri"/>
                <a:ea typeface="Calibri"/>
                <a:cs typeface="Calibri"/>
                <a:sym typeface="Calibri"/>
              </a:rPr>
              <a:t>The </a:t>
            </a:r>
            <a:r>
              <a:rPr b="1" lang="en-GB">
                <a:solidFill>
                  <a:srgbClr val="212121"/>
                </a:solidFill>
                <a:latin typeface="Calibri"/>
                <a:ea typeface="Calibri"/>
                <a:cs typeface="Calibri"/>
                <a:sym typeface="Calibri"/>
              </a:rPr>
              <a:t>Health Star Rating</a:t>
            </a:r>
            <a:r>
              <a:rPr lang="en-GB">
                <a:solidFill>
                  <a:srgbClr val="212121"/>
                </a:solidFill>
                <a:latin typeface="Calibri"/>
                <a:ea typeface="Calibri"/>
                <a:cs typeface="Calibri"/>
                <a:sym typeface="Calibri"/>
              </a:rPr>
              <a:t> is a front-of-pack labelling system that rates the overall nutritional profile of packaged food and </a:t>
            </a:r>
            <a:r>
              <a:rPr b="1" lang="en-GB">
                <a:solidFill>
                  <a:srgbClr val="212121"/>
                </a:solidFill>
                <a:latin typeface="Calibri"/>
                <a:ea typeface="Calibri"/>
                <a:cs typeface="Calibri"/>
                <a:sym typeface="Calibri"/>
              </a:rPr>
              <a:t>assigns it a rating from ½ a star to 5 stars</a:t>
            </a:r>
            <a:r>
              <a:rPr lang="en-GB">
                <a:solidFill>
                  <a:srgbClr val="212121"/>
                </a:solidFill>
                <a:latin typeface="Calibri"/>
                <a:ea typeface="Calibri"/>
                <a:cs typeface="Calibri"/>
                <a:sym typeface="Calibri"/>
              </a:rPr>
              <a:t>. It provides a quick, easy, standard way to compare similar packaged foods. </a:t>
            </a:r>
            <a:r>
              <a:rPr b="1" lang="en-GB">
                <a:solidFill>
                  <a:srgbClr val="212121"/>
                </a:solidFill>
                <a:latin typeface="Calibri"/>
                <a:ea typeface="Calibri"/>
                <a:cs typeface="Calibri"/>
                <a:sym typeface="Calibri"/>
              </a:rPr>
              <a:t>The more stars, the healthier the choice.</a:t>
            </a:r>
            <a:endParaRPr b="1">
              <a:solidFill>
                <a:srgbClr val="212121"/>
              </a:solidFill>
              <a:latin typeface="Calibri"/>
              <a:ea typeface="Calibri"/>
              <a:cs typeface="Calibri"/>
              <a:sym typeface="Calibri"/>
            </a:endParaRPr>
          </a:p>
          <a:p>
            <a:pPr indent="0" lvl="0" marL="0" rtl="0" algn="l">
              <a:spcBef>
                <a:spcPts val="1600"/>
              </a:spcBef>
              <a:spcAft>
                <a:spcPts val="1600"/>
              </a:spcAft>
              <a:buNone/>
            </a:pPr>
            <a:r>
              <a:rPr lang="en-GB">
                <a:solidFill>
                  <a:srgbClr val="212121"/>
                </a:solidFill>
                <a:latin typeface="Calibri"/>
                <a:ea typeface="Calibri"/>
                <a:cs typeface="Calibri"/>
                <a:sym typeface="Calibri"/>
              </a:rPr>
              <a:t>To objectively analyse the relevant information, regulators have used the categorization approach, wherever teams of comparable merchandise area unit clubbed along joined class. This class is employed because the basic unit for capturing data and driving higher cognitive process in </a:t>
            </a:r>
            <a:r>
              <a:rPr lang="en-GB">
                <a:solidFill>
                  <a:srgbClr val="212121"/>
                </a:solidFill>
                <a:latin typeface="Calibri"/>
                <a:ea typeface="Calibri"/>
                <a:cs typeface="Calibri"/>
                <a:sym typeface="Calibri"/>
              </a:rPr>
              <a:t>regulatory</a:t>
            </a:r>
            <a:r>
              <a:rPr lang="en-GB">
                <a:solidFill>
                  <a:srgbClr val="212121"/>
                </a:solidFill>
                <a:latin typeface="Calibri"/>
                <a:ea typeface="Calibri"/>
                <a:cs typeface="Calibri"/>
                <a:sym typeface="Calibri"/>
              </a:rPr>
              <a:t> frameworks.</a:t>
            </a:r>
            <a:endParaRPr>
              <a:solidFill>
                <a:srgbClr val="21212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7"/>
          <p:cNvSpPr txBox="1"/>
          <p:nvPr>
            <p:ph type="title"/>
          </p:nvPr>
        </p:nvSpPr>
        <p:spPr>
          <a:xfrm>
            <a:off x="311700" y="6842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Categorization</a:t>
            </a:r>
            <a:endParaRPr/>
          </a:p>
        </p:txBody>
      </p:sp>
      <p:sp>
        <p:nvSpPr>
          <p:cNvPr id="251" name="Google Shape;251;p37"/>
          <p:cNvSpPr txBox="1"/>
          <p:nvPr>
            <p:ph idx="1" type="body"/>
          </p:nvPr>
        </p:nvSpPr>
        <p:spPr>
          <a:xfrm>
            <a:off x="120825" y="676225"/>
            <a:ext cx="4188900" cy="415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Calibri"/>
                <a:ea typeface="Calibri"/>
                <a:cs typeface="Calibri"/>
                <a:sym typeface="Calibri"/>
              </a:rPr>
              <a:t>We categorized the ingredients in 12 groups.</a:t>
            </a:r>
            <a:endParaRPr>
              <a:latin typeface="Calibri"/>
              <a:ea typeface="Calibri"/>
              <a:cs typeface="Calibri"/>
              <a:sym typeface="Calibri"/>
            </a:endParaRPr>
          </a:p>
          <a:p>
            <a:pPr indent="0" lvl="0" marL="0" rtl="0" algn="l">
              <a:lnSpc>
                <a:spcPct val="100000"/>
              </a:lnSpc>
              <a:spcBef>
                <a:spcPts val="1600"/>
              </a:spcBef>
              <a:spcAft>
                <a:spcPts val="0"/>
              </a:spcAft>
              <a:buNone/>
            </a:pPr>
            <a:r>
              <a:rPr lang="en-GB">
                <a:solidFill>
                  <a:srgbClr val="000000"/>
                </a:solidFill>
                <a:highlight>
                  <a:srgbClr val="F8E71C"/>
                </a:highlight>
                <a:latin typeface="Calibri"/>
                <a:ea typeface="Calibri"/>
                <a:cs typeface="Calibri"/>
                <a:sym typeface="Calibri"/>
              </a:rPr>
              <a:t>Eggs</a:t>
            </a:r>
            <a:r>
              <a:rPr lang="en-GB">
                <a:solidFill>
                  <a:srgbClr val="000000"/>
                </a:solidFill>
                <a:latin typeface="Calibri"/>
                <a:ea typeface="Calibri"/>
                <a:cs typeface="Calibri"/>
                <a:sym typeface="Calibri"/>
              </a:rPr>
              <a:t>		</a:t>
            </a:r>
            <a:r>
              <a:rPr lang="en-GB">
                <a:solidFill>
                  <a:srgbClr val="000000"/>
                </a:solidFill>
                <a:highlight>
                  <a:srgbClr val="00FFFF"/>
                </a:highlight>
                <a:latin typeface="Calibri"/>
                <a:ea typeface="Calibri"/>
                <a:cs typeface="Calibri"/>
                <a:sym typeface="Calibri"/>
              </a:rPr>
              <a:t>Seafood</a:t>
            </a:r>
            <a:r>
              <a:rPr lang="en-GB">
                <a:solidFill>
                  <a:srgbClr val="000000"/>
                </a:solidFill>
                <a:latin typeface="Calibri"/>
                <a:ea typeface="Calibri"/>
                <a:cs typeface="Calibri"/>
                <a:sym typeface="Calibri"/>
              </a:rPr>
              <a:t>		</a:t>
            </a:r>
            <a:r>
              <a:rPr lang="en-GB">
                <a:solidFill>
                  <a:srgbClr val="000000"/>
                </a:solidFill>
                <a:highlight>
                  <a:srgbClr val="FFD966"/>
                </a:highlight>
                <a:latin typeface="Calibri"/>
                <a:ea typeface="Calibri"/>
                <a:cs typeface="Calibri"/>
                <a:sym typeface="Calibri"/>
              </a:rPr>
              <a:t>Cereals</a:t>
            </a:r>
            <a:endParaRPr>
              <a:solidFill>
                <a:srgbClr val="000000"/>
              </a:solidFill>
              <a:highlight>
                <a:srgbClr val="FFD966"/>
              </a:highlight>
              <a:latin typeface="Calibri"/>
              <a:ea typeface="Calibri"/>
              <a:cs typeface="Calibri"/>
              <a:sym typeface="Calibri"/>
            </a:endParaRPr>
          </a:p>
          <a:p>
            <a:pPr indent="0" lvl="0" marL="0" rtl="0" algn="l">
              <a:lnSpc>
                <a:spcPct val="100000"/>
              </a:lnSpc>
              <a:spcBef>
                <a:spcPts val="1600"/>
              </a:spcBef>
              <a:spcAft>
                <a:spcPts val="0"/>
              </a:spcAft>
              <a:buNone/>
            </a:pPr>
            <a:r>
              <a:rPr lang="en-GB">
                <a:solidFill>
                  <a:srgbClr val="000000"/>
                </a:solidFill>
                <a:highlight>
                  <a:srgbClr val="C27BA0"/>
                </a:highlight>
                <a:latin typeface="Calibri"/>
                <a:ea typeface="Calibri"/>
                <a:cs typeface="Calibri"/>
                <a:sym typeface="Calibri"/>
              </a:rPr>
              <a:t>Oil products</a:t>
            </a:r>
            <a:r>
              <a:rPr lang="en-GB">
                <a:solidFill>
                  <a:srgbClr val="000000"/>
                </a:solidFill>
                <a:latin typeface="Calibri"/>
                <a:ea typeface="Calibri"/>
                <a:cs typeface="Calibri"/>
                <a:sym typeface="Calibri"/>
              </a:rPr>
              <a:t>		</a:t>
            </a:r>
            <a:r>
              <a:rPr lang="en-GB">
                <a:solidFill>
                  <a:srgbClr val="000000"/>
                </a:solidFill>
                <a:highlight>
                  <a:srgbClr val="D5D5D5"/>
                </a:highlight>
                <a:latin typeface="Calibri"/>
                <a:ea typeface="Calibri"/>
                <a:cs typeface="Calibri"/>
                <a:sym typeface="Calibri"/>
              </a:rPr>
              <a:t>Dairy items</a:t>
            </a:r>
            <a:endParaRPr>
              <a:solidFill>
                <a:srgbClr val="000000"/>
              </a:solidFill>
              <a:highlight>
                <a:srgbClr val="D5D5D5"/>
              </a:highlight>
              <a:latin typeface="Calibri"/>
              <a:ea typeface="Calibri"/>
              <a:cs typeface="Calibri"/>
              <a:sym typeface="Calibri"/>
            </a:endParaRPr>
          </a:p>
          <a:p>
            <a:pPr indent="0" lvl="0" marL="0" rtl="0" algn="l">
              <a:lnSpc>
                <a:spcPct val="100000"/>
              </a:lnSpc>
              <a:spcBef>
                <a:spcPts val="1200"/>
              </a:spcBef>
              <a:spcAft>
                <a:spcPts val="0"/>
              </a:spcAft>
              <a:buNone/>
            </a:pPr>
            <a:r>
              <a:rPr lang="en-GB">
                <a:solidFill>
                  <a:srgbClr val="000000"/>
                </a:solidFill>
                <a:highlight>
                  <a:srgbClr val="BF9000"/>
                </a:highlight>
                <a:latin typeface="Calibri"/>
                <a:ea typeface="Calibri"/>
                <a:cs typeface="Calibri"/>
                <a:sym typeface="Calibri"/>
              </a:rPr>
              <a:t>Non-alcoholic Beverages</a:t>
            </a:r>
            <a:endParaRPr>
              <a:solidFill>
                <a:srgbClr val="000000"/>
              </a:solidFill>
              <a:highlight>
                <a:srgbClr val="BF9000"/>
              </a:highlight>
              <a:latin typeface="Calibri"/>
              <a:ea typeface="Calibri"/>
              <a:cs typeface="Calibri"/>
              <a:sym typeface="Calibri"/>
            </a:endParaRPr>
          </a:p>
          <a:p>
            <a:pPr indent="0" lvl="0" marL="0" rtl="0" algn="l">
              <a:lnSpc>
                <a:spcPct val="100000"/>
              </a:lnSpc>
              <a:spcBef>
                <a:spcPts val="1200"/>
              </a:spcBef>
              <a:spcAft>
                <a:spcPts val="0"/>
              </a:spcAft>
              <a:buNone/>
            </a:pPr>
            <a:r>
              <a:rPr lang="en-GB">
                <a:solidFill>
                  <a:srgbClr val="000000"/>
                </a:solidFill>
                <a:highlight>
                  <a:srgbClr val="9FC5E8"/>
                </a:highlight>
                <a:latin typeface="Calibri"/>
                <a:ea typeface="Calibri"/>
                <a:cs typeface="Calibri"/>
                <a:sym typeface="Calibri"/>
              </a:rPr>
              <a:t>Sauces and Dressings</a:t>
            </a:r>
            <a:r>
              <a:rPr lang="en-GB">
                <a:solidFill>
                  <a:srgbClr val="000000"/>
                </a:solidFill>
                <a:latin typeface="Calibri"/>
                <a:ea typeface="Calibri"/>
                <a:cs typeface="Calibri"/>
                <a:sym typeface="Calibri"/>
              </a:rPr>
              <a:t>	</a:t>
            </a:r>
            <a:r>
              <a:rPr lang="en-GB">
                <a:solidFill>
                  <a:srgbClr val="000000"/>
                </a:solidFill>
                <a:highlight>
                  <a:srgbClr val="EA9999"/>
                </a:highlight>
                <a:latin typeface="Calibri"/>
                <a:ea typeface="Calibri"/>
                <a:cs typeface="Calibri"/>
                <a:sym typeface="Calibri"/>
              </a:rPr>
              <a:t>Meat products</a:t>
            </a:r>
            <a:endParaRPr>
              <a:solidFill>
                <a:srgbClr val="000000"/>
              </a:solidFill>
              <a:highlight>
                <a:srgbClr val="EA9999"/>
              </a:highlight>
              <a:latin typeface="Calibri"/>
              <a:ea typeface="Calibri"/>
              <a:cs typeface="Calibri"/>
              <a:sym typeface="Calibri"/>
            </a:endParaRPr>
          </a:p>
          <a:p>
            <a:pPr indent="0" lvl="0" marL="0" rtl="0" algn="l">
              <a:lnSpc>
                <a:spcPct val="100000"/>
              </a:lnSpc>
              <a:spcBef>
                <a:spcPts val="1200"/>
              </a:spcBef>
              <a:spcAft>
                <a:spcPts val="0"/>
              </a:spcAft>
              <a:buNone/>
            </a:pPr>
            <a:r>
              <a:rPr lang="en-GB">
                <a:solidFill>
                  <a:srgbClr val="000000"/>
                </a:solidFill>
                <a:highlight>
                  <a:srgbClr val="FF9900"/>
                </a:highlight>
                <a:latin typeface="Calibri"/>
                <a:ea typeface="Calibri"/>
                <a:cs typeface="Calibri"/>
                <a:sym typeface="Calibri"/>
              </a:rPr>
              <a:t>Bread and Bakery products</a:t>
            </a:r>
            <a:endParaRPr>
              <a:solidFill>
                <a:srgbClr val="000000"/>
              </a:solidFill>
              <a:highlight>
                <a:srgbClr val="FF9900"/>
              </a:highlight>
              <a:latin typeface="Calibri"/>
              <a:ea typeface="Calibri"/>
              <a:cs typeface="Calibri"/>
              <a:sym typeface="Calibri"/>
            </a:endParaRPr>
          </a:p>
          <a:p>
            <a:pPr indent="0" lvl="0" marL="0" rtl="0" algn="l">
              <a:lnSpc>
                <a:spcPct val="100000"/>
              </a:lnSpc>
              <a:spcBef>
                <a:spcPts val="1200"/>
              </a:spcBef>
              <a:spcAft>
                <a:spcPts val="0"/>
              </a:spcAft>
              <a:buNone/>
            </a:pPr>
            <a:r>
              <a:rPr lang="en-GB">
                <a:solidFill>
                  <a:srgbClr val="000000"/>
                </a:solidFill>
                <a:highlight>
                  <a:srgbClr val="00FF00"/>
                </a:highlight>
                <a:latin typeface="Calibri"/>
                <a:ea typeface="Calibri"/>
                <a:cs typeface="Calibri"/>
                <a:sym typeface="Calibri"/>
              </a:rPr>
              <a:t>Sugar and Honey items</a:t>
            </a:r>
            <a:endParaRPr>
              <a:solidFill>
                <a:srgbClr val="000000"/>
              </a:solidFill>
              <a:highlight>
                <a:srgbClr val="00FF00"/>
              </a:highlight>
              <a:latin typeface="Calibri"/>
              <a:ea typeface="Calibri"/>
              <a:cs typeface="Calibri"/>
              <a:sym typeface="Calibri"/>
            </a:endParaRPr>
          </a:p>
          <a:p>
            <a:pPr indent="0" lvl="0" marL="0" rtl="0" algn="l">
              <a:lnSpc>
                <a:spcPct val="100000"/>
              </a:lnSpc>
              <a:spcBef>
                <a:spcPts val="1200"/>
              </a:spcBef>
              <a:spcAft>
                <a:spcPts val="0"/>
              </a:spcAft>
              <a:buNone/>
            </a:pPr>
            <a:r>
              <a:rPr lang="en-GB">
                <a:solidFill>
                  <a:srgbClr val="000000"/>
                </a:solidFill>
                <a:highlight>
                  <a:srgbClr val="76A5AF"/>
                </a:highlight>
                <a:latin typeface="Calibri"/>
                <a:ea typeface="Calibri"/>
                <a:cs typeface="Calibri"/>
                <a:sym typeface="Calibri"/>
              </a:rPr>
              <a:t>Confectionaries</a:t>
            </a:r>
            <a:endParaRPr>
              <a:solidFill>
                <a:srgbClr val="000000"/>
              </a:solidFill>
              <a:highlight>
                <a:srgbClr val="76A5AF"/>
              </a:highlight>
              <a:latin typeface="Calibri"/>
              <a:ea typeface="Calibri"/>
              <a:cs typeface="Calibri"/>
              <a:sym typeface="Calibri"/>
            </a:endParaRPr>
          </a:p>
          <a:p>
            <a:pPr indent="0" lvl="0" marL="0" rtl="0" algn="l">
              <a:lnSpc>
                <a:spcPct val="100000"/>
              </a:lnSpc>
              <a:spcBef>
                <a:spcPts val="1200"/>
              </a:spcBef>
              <a:spcAft>
                <a:spcPts val="1600"/>
              </a:spcAft>
              <a:buNone/>
            </a:pPr>
            <a:r>
              <a:t/>
            </a:r>
            <a:endParaRPr>
              <a:latin typeface="Calibri"/>
              <a:ea typeface="Calibri"/>
              <a:cs typeface="Calibri"/>
              <a:sym typeface="Calibri"/>
            </a:endParaRPr>
          </a:p>
        </p:txBody>
      </p:sp>
      <p:pic>
        <p:nvPicPr>
          <p:cNvPr id="252" name="Google Shape;252;p37"/>
          <p:cNvPicPr preferRelativeResize="0"/>
          <p:nvPr/>
        </p:nvPicPr>
        <p:blipFill>
          <a:blip r:embed="rId3">
            <a:alphaModFix/>
          </a:blip>
          <a:stretch>
            <a:fillRect/>
          </a:stretch>
        </p:blipFill>
        <p:spPr>
          <a:xfrm>
            <a:off x="3875075" y="431975"/>
            <a:ext cx="5116526" cy="44603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8"/>
          <p:cNvSpPr txBox="1"/>
          <p:nvPr>
            <p:ph idx="1" type="body"/>
          </p:nvPr>
        </p:nvSpPr>
        <p:spPr>
          <a:xfrm>
            <a:off x="311700" y="0"/>
            <a:ext cx="8520600" cy="48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A dataset of ingredients according to their category was generated:</a:t>
            </a:r>
            <a:endParaRPr b="1"/>
          </a:p>
          <a:p>
            <a:pPr indent="0" lvl="0" marL="0" rtl="0" algn="l">
              <a:spcBef>
                <a:spcPts val="1600"/>
              </a:spcBef>
              <a:spcAft>
                <a:spcPts val="1600"/>
              </a:spcAft>
              <a:buNone/>
            </a:pPr>
            <a:r>
              <a:t/>
            </a:r>
            <a:endParaRPr/>
          </a:p>
        </p:txBody>
      </p:sp>
      <p:pic>
        <p:nvPicPr>
          <p:cNvPr id="258" name="Google Shape;258;p38"/>
          <p:cNvPicPr preferRelativeResize="0"/>
          <p:nvPr/>
        </p:nvPicPr>
        <p:blipFill>
          <a:blip r:embed="rId3">
            <a:alphaModFix/>
          </a:blip>
          <a:stretch>
            <a:fillRect/>
          </a:stretch>
        </p:blipFill>
        <p:spPr>
          <a:xfrm>
            <a:off x="20350" y="573725"/>
            <a:ext cx="9103301" cy="39960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9"/>
          <p:cNvSpPr txBox="1"/>
          <p:nvPr>
            <p:ph type="title"/>
          </p:nvPr>
        </p:nvSpPr>
        <p:spPr>
          <a:xfrm>
            <a:off x="311700" y="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Calculation</a:t>
            </a:r>
            <a:endParaRPr/>
          </a:p>
        </p:txBody>
      </p:sp>
      <p:sp>
        <p:nvSpPr>
          <p:cNvPr id="264" name="Google Shape;264;p39"/>
          <p:cNvSpPr txBox="1"/>
          <p:nvPr>
            <p:ph idx="1" type="body"/>
          </p:nvPr>
        </p:nvSpPr>
        <p:spPr>
          <a:xfrm>
            <a:off x="311700" y="607800"/>
            <a:ext cx="8520600" cy="909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700">
                <a:latin typeface="Calibri"/>
                <a:ea typeface="Calibri"/>
                <a:cs typeface="Calibri"/>
                <a:sym typeface="Calibri"/>
              </a:rPr>
              <a:t>The food item was searched and its ingredients were categorised.</a:t>
            </a:r>
            <a:endParaRPr sz="1700">
              <a:latin typeface="Calibri"/>
              <a:ea typeface="Calibri"/>
              <a:cs typeface="Calibri"/>
              <a:sym typeface="Calibri"/>
            </a:endParaRPr>
          </a:p>
          <a:p>
            <a:pPr indent="0" lvl="0" marL="0" rtl="0" algn="l">
              <a:lnSpc>
                <a:spcPct val="100000"/>
              </a:lnSpc>
              <a:spcBef>
                <a:spcPts val="1600"/>
              </a:spcBef>
              <a:spcAft>
                <a:spcPts val="1600"/>
              </a:spcAft>
              <a:buNone/>
            </a:pPr>
            <a:r>
              <a:rPr lang="en-GB" sz="1700">
                <a:latin typeface="Calibri"/>
                <a:ea typeface="Calibri"/>
                <a:cs typeface="Calibri"/>
                <a:sym typeface="Calibri"/>
              </a:rPr>
              <a:t>The MHS value of ingredients were assigned and average was calculated for the food item.</a:t>
            </a:r>
            <a:endParaRPr sz="1700">
              <a:latin typeface="Calibri"/>
              <a:ea typeface="Calibri"/>
              <a:cs typeface="Calibri"/>
              <a:sym typeface="Calibri"/>
            </a:endParaRPr>
          </a:p>
        </p:txBody>
      </p:sp>
      <p:pic>
        <p:nvPicPr>
          <p:cNvPr id="265" name="Google Shape;265;p39"/>
          <p:cNvPicPr preferRelativeResize="0"/>
          <p:nvPr/>
        </p:nvPicPr>
        <p:blipFill>
          <a:blip r:embed="rId3">
            <a:alphaModFix/>
          </a:blip>
          <a:stretch>
            <a:fillRect/>
          </a:stretch>
        </p:blipFill>
        <p:spPr>
          <a:xfrm>
            <a:off x="2363250" y="1558675"/>
            <a:ext cx="6780750" cy="3213100"/>
          </a:xfrm>
          <a:prstGeom prst="rect">
            <a:avLst/>
          </a:prstGeom>
          <a:noFill/>
          <a:ln>
            <a:noFill/>
          </a:ln>
        </p:spPr>
      </p:pic>
      <p:sp>
        <p:nvSpPr>
          <p:cNvPr id="266" name="Google Shape;266;p39"/>
          <p:cNvSpPr txBox="1"/>
          <p:nvPr/>
        </p:nvSpPr>
        <p:spPr>
          <a:xfrm>
            <a:off x="100450" y="1898675"/>
            <a:ext cx="2320800" cy="23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2"/>
                </a:solidFill>
                <a:latin typeface="Calibri"/>
                <a:ea typeface="Calibri"/>
                <a:cs typeface="Calibri"/>
                <a:sym typeface="Calibri"/>
              </a:rPr>
              <a:t>0 &lt; Rating &lt;= 2 = LOW</a:t>
            </a:r>
            <a:endParaRPr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a:p>
            <a:pPr indent="0" lvl="0" marL="0" rtl="0" algn="l">
              <a:spcBef>
                <a:spcPts val="0"/>
              </a:spcBef>
              <a:spcAft>
                <a:spcPts val="0"/>
              </a:spcAft>
              <a:buNone/>
            </a:pPr>
            <a:r>
              <a:rPr lang="en-GB" sz="1500">
                <a:solidFill>
                  <a:schemeClr val="dk2"/>
                </a:solidFill>
                <a:latin typeface="Calibri"/>
                <a:ea typeface="Calibri"/>
                <a:cs typeface="Calibri"/>
                <a:sym typeface="Calibri"/>
              </a:rPr>
              <a:t>2 &lt; Rating &lt;= 3 = MEDIUM</a:t>
            </a:r>
            <a:endParaRPr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a:p>
            <a:pPr indent="0" lvl="0" marL="0" rtl="0" algn="l">
              <a:spcBef>
                <a:spcPts val="0"/>
              </a:spcBef>
              <a:spcAft>
                <a:spcPts val="0"/>
              </a:spcAft>
              <a:buNone/>
            </a:pPr>
            <a:r>
              <a:rPr lang="en-GB" sz="1500">
                <a:solidFill>
                  <a:schemeClr val="dk2"/>
                </a:solidFill>
                <a:latin typeface="Calibri"/>
                <a:ea typeface="Calibri"/>
                <a:cs typeface="Calibri"/>
                <a:sym typeface="Calibri"/>
              </a:rPr>
              <a:t>3 &lt; Rating &lt; 5 = HIGH /</a:t>
            </a:r>
            <a:endParaRPr sz="1500">
              <a:solidFill>
                <a:schemeClr val="dk2"/>
              </a:solidFill>
              <a:latin typeface="Calibri"/>
              <a:ea typeface="Calibri"/>
              <a:cs typeface="Calibri"/>
              <a:sym typeface="Calibri"/>
            </a:endParaRPr>
          </a:p>
          <a:p>
            <a:pPr indent="0" lvl="0" marL="0" rtl="0" algn="l">
              <a:spcBef>
                <a:spcPts val="0"/>
              </a:spcBef>
              <a:spcAft>
                <a:spcPts val="0"/>
              </a:spcAft>
              <a:buNone/>
            </a:pPr>
            <a:r>
              <a:rPr lang="en-GB" sz="1500">
                <a:solidFill>
                  <a:schemeClr val="dk2"/>
                </a:solidFill>
                <a:latin typeface="Calibri"/>
                <a:ea typeface="Calibri"/>
                <a:cs typeface="Calibri"/>
                <a:sym typeface="Calibri"/>
              </a:rPr>
              <a:t>		       Healthy</a:t>
            </a:r>
            <a:endParaRPr sz="1500">
              <a:solidFill>
                <a:schemeClr val="dk2"/>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type="title"/>
          </p:nvPr>
        </p:nvSpPr>
        <p:spPr>
          <a:xfrm>
            <a:off x="311700" y="1688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Final HSR ratings of food products. </a:t>
            </a:r>
            <a:endParaRPr/>
          </a:p>
        </p:txBody>
      </p:sp>
      <p:pic>
        <p:nvPicPr>
          <p:cNvPr id="272" name="Google Shape;272;p40"/>
          <p:cNvPicPr preferRelativeResize="0"/>
          <p:nvPr/>
        </p:nvPicPr>
        <p:blipFill>
          <a:blip r:embed="rId3">
            <a:alphaModFix/>
          </a:blip>
          <a:stretch>
            <a:fillRect/>
          </a:stretch>
        </p:blipFill>
        <p:spPr>
          <a:xfrm>
            <a:off x="152400" y="1200325"/>
            <a:ext cx="8839200" cy="1161763"/>
          </a:xfrm>
          <a:prstGeom prst="rect">
            <a:avLst/>
          </a:prstGeom>
          <a:noFill/>
          <a:ln>
            <a:noFill/>
          </a:ln>
        </p:spPr>
      </p:pic>
      <p:pic>
        <p:nvPicPr>
          <p:cNvPr id="273" name="Google Shape;273;p40"/>
          <p:cNvPicPr preferRelativeResize="0"/>
          <p:nvPr/>
        </p:nvPicPr>
        <p:blipFill>
          <a:blip r:embed="rId4">
            <a:alphaModFix/>
          </a:blip>
          <a:stretch>
            <a:fillRect/>
          </a:stretch>
        </p:blipFill>
        <p:spPr>
          <a:xfrm>
            <a:off x="152400" y="2966563"/>
            <a:ext cx="8839200" cy="1697251"/>
          </a:xfrm>
          <a:prstGeom prst="rect">
            <a:avLst/>
          </a:prstGeom>
          <a:noFill/>
          <a:ln>
            <a:noFill/>
          </a:ln>
        </p:spPr>
      </p:pic>
      <p:sp>
        <p:nvSpPr>
          <p:cNvPr id="274" name="Google Shape;274;p40"/>
          <p:cNvSpPr txBox="1"/>
          <p:nvPr/>
        </p:nvSpPr>
        <p:spPr>
          <a:xfrm>
            <a:off x="4179300" y="831025"/>
            <a:ext cx="785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1200">
                <a:latin typeface="Roboto"/>
                <a:ea typeface="Roboto"/>
                <a:cs typeface="Roboto"/>
                <a:sym typeface="Roboto"/>
              </a:rPr>
              <a:t>Output 1</a:t>
            </a:r>
            <a:endParaRPr i="1" sz="1200">
              <a:latin typeface="Roboto"/>
              <a:ea typeface="Roboto"/>
              <a:cs typeface="Roboto"/>
              <a:sym typeface="Roboto"/>
            </a:endParaRPr>
          </a:p>
        </p:txBody>
      </p:sp>
      <p:sp>
        <p:nvSpPr>
          <p:cNvPr id="275" name="Google Shape;275;p40"/>
          <p:cNvSpPr txBox="1"/>
          <p:nvPr/>
        </p:nvSpPr>
        <p:spPr>
          <a:xfrm>
            <a:off x="4225375" y="2652125"/>
            <a:ext cx="785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1200">
                <a:latin typeface="Roboto"/>
                <a:ea typeface="Roboto"/>
                <a:cs typeface="Roboto"/>
                <a:sym typeface="Roboto"/>
              </a:rPr>
              <a:t>Output 2</a:t>
            </a:r>
            <a:endParaRPr i="1" sz="1200">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41"/>
          <p:cNvPicPr preferRelativeResize="0"/>
          <p:nvPr/>
        </p:nvPicPr>
        <p:blipFill>
          <a:blip r:embed="rId3">
            <a:alphaModFix/>
          </a:blip>
          <a:stretch>
            <a:fillRect/>
          </a:stretch>
        </p:blipFill>
        <p:spPr>
          <a:xfrm>
            <a:off x="330825" y="102175"/>
            <a:ext cx="2623675" cy="4838699"/>
          </a:xfrm>
          <a:prstGeom prst="rect">
            <a:avLst/>
          </a:prstGeom>
          <a:noFill/>
          <a:ln>
            <a:noFill/>
          </a:ln>
        </p:spPr>
      </p:pic>
      <p:pic>
        <p:nvPicPr>
          <p:cNvPr id="281" name="Google Shape;281;p41"/>
          <p:cNvPicPr preferRelativeResize="0"/>
          <p:nvPr/>
        </p:nvPicPr>
        <p:blipFill>
          <a:blip r:embed="rId4">
            <a:alphaModFix/>
          </a:blip>
          <a:stretch>
            <a:fillRect/>
          </a:stretch>
        </p:blipFill>
        <p:spPr>
          <a:xfrm>
            <a:off x="6025802" y="152400"/>
            <a:ext cx="2780625" cy="4838699"/>
          </a:xfrm>
          <a:prstGeom prst="rect">
            <a:avLst/>
          </a:prstGeom>
          <a:noFill/>
          <a:ln>
            <a:noFill/>
          </a:ln>
        </p:spPr>
      </p:pic>
      <p:sp>
        <p:nvSpPr>
          <p:cNvPr id="282" name="Google Shape;282;p41"/>
          <p:cNvSpPr txBox="1"/>
          <p:nvPr/>
        </p:nvSpPr>
        <p:spPr>
          <a:xfrm>
            <a:off x="3142500" y="1154925"/>
            <a:ext cx="28833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Calibri"/>
              <a:ea typeface="Calibri"/>
              <a:cs typeface="Calibri"/>
              <a:sym typeface="Calibri"/>
            </a:endParaRPr>
          </a:p>
          <a:p>
            <a:pPr indent="0" lvl="0" marL="0" rtl="0" algn="l">
              <a:spcBef>
                <a:spcPts val="0"/>
              </a:spcBef>
              <a:spcAft>
                <a:spcPts val="0"/>
              </a:spcAft>
              <a:buNone/>
            </a:pPr>
            <a:r>
              <a:rPr b="1" lang="en-GB" sz="1900">
                <a:solidFill>
                  <a:srgbClr val="06D106"/>
                </a:solidFill>
                <a:latin typeface="Calibri"/>
                <a:ea typeface="Calibri"/>
                <a:cs typeface="Calibri"/>
                <a:sym typeface="Calibri"/>
              </a:rPr>
              <a:t>3 &lt; Rating &lt; 5 = High</a:t>
            </a:r>
            <a:endParaRPr b="1" sz="1900">
              <a:solidFill>
                <a:srgbClr val="06D106"/>
              </a:solidFill>
              <a:latin typeface="Calibri"/>
              <a:ea typeface="Calibri"/>
              <a:cs typeface="Calibri"/>
              <a:sym typeface="Calibri"/>
            </a:endParaRPr>
          </a:p>
          <a:p>
            <a:pPr indent="0" lvl="0" marL="0" rtl="0" algn="l">
              <a:spcBef>
                <a:spcPts val="0"/>
              </a:spcBef>
              <a:spcAft>
                <a:spcPts val="0"/>
              </a:spcAft>
              <a:buNone/>
            </a:pPr>
            <a:r>
              <a:rPr b="1" lang="en-GB" sz="1900">
                <a:solidFill>
                  <a:srgbClr val="0000FF"/>
                </a:solidFill>
                <a:latin typeface="Calibri"/>
                <a:ea typeface="Calibri"/>
                <a:cs typeface="Calibri"/>
                <a:sym typeface="Calibri"/>
              </a:rPr>
              <a:t>2 &lt; Rating &lt;= 3 = Medium</a:t>
            </a:r>
            <a:endParaRPr b="1" sz="1900">
              <a:solidFill>
                <a:srgbClr val="0000FF"/>
              </a:solidFill>
              <a:latin typeface="Calibri"/>
              <a:ea typeface="Calibri"/>
              <a:cs typeface="Calibri"/>
              <a:sym typeface="Calibri"/>
            </a:endParaRPr>
          </a:p>
          <a:p>
            <a:pPr indent="0" lvl="0" marL="0" rtl="0" algn="l">
              <a:spcBef>
                <a:spcPts val="0"/>
              </a:spcBef>
              <a:spcAft>
                <a:spcPts val="0"/>
              </a:spcAft>
              <a:buNone/>
            </a:pPr>
            <a:r>
              <a:rPr b="1" lang="en-GB" sz="1900">
                <a:solidFill>
                  <a:srgbClr val="FF0000"/>
                </a:solidFill>
                <a:latin typeface="Calibri"/>
                <a:ea typeface="Calibri"/>
                <a:cs typeface="Calibri"/>
                <a:sym typeface="Calibri"/>
              </a:rPr>
              <a:t>0 &lt; Rating &lt;= 2 = Low</a:t>
            </a:r>
            <a:endParaRPr b="1" sz="1900">
              <a:solidFill>
                <a:srgbClr val="FF0000"/>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2"/>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RESULTS:</a:t>
            </a:r>
            <a:endParaRPr/>
          </a:p>
        </p:txBody>
      </p:sp>
      <p:sp>
        <p:nvSpPr>
          <p:cNvPr id="288" name="Google Shape;288;p42"/>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From the above results we can see that :</a:t>
            </a:r>
            <a:endParaRPr/>
          </a:p>
          <a:p>
            <a:pPr indent="-342900" lvl="0" marL="457200" rtl="0" algn="l">
              <a:spcBef>
                <a:spcPts val="1600"/>
              </a:spcBef>
              <a:spcAft>
                <a:spcPts val="0"/>
              </a:spcAft>
              <a:buSzPts val="1800"/>
              <a:buAutoNum type="arabicPeriod"/>
            </a:pPr>
            <a:r>
              <a:rPr lang="en-GB"/>
              <a:t>We are able to </a:t>
            </a:r>
            <a:r>
              <a:rPr b="1" lang="en-GB"/>
              <a:t>suggest packaged food item</a:t>
            </a:r>
            <a:r>
              <a:rPr lang="en-GB"/>
              <a:t> from most frequent ingredients consumed by the user.</a:t>
            </a:r>
            <a:endParaRPr/>
          </a:p>
          <a:p>
            <a:pPr indent="-342900" lvl="0" marL="457200" rtl="0" algn="l">
              <a:spcBef>
                <a:spcPts val="0"/>
              </a:spcBef>
              <a:spcAft>
                <a:spcPts val="0"/>
              </a:spcAft>
              <a:buSzPts val="1800"/>
              <a:buAutoNum type="arabicPeriod"/>
            </a:pPr>
            <a:r>
              <a:rPr lang="en-GB"/>
              <a:t>We are able to </a:t>
            </a:r>
            <a:r>
              <a:rPr b="1" lang="en-GB"/>
              <a:t>generate health tip</a:t>
            </a:r>
            <a:r>
              <a:rPr lang="en-GB"/>
              <a:t> from most frequent ingredients consumed by the user.</a:t>
            </a:r>
            <a:endParaRPr/>
          </a:p>
          <a:p>
            <a:pPr indent="-342900" lvl="0" marL="457200" rtl="0" algn="l">
              <a:spcBef>
                <a:spcPts val="0"/>
              </a:spcBef>
              <a:spcAft>
                <a:spcPts val="0"/>
              </a:spcAft>
              <a:buSzPts val="1800"/>
              <a:buAutoNum type="arabicPeriod"/>
            </a:pPr>
            <a:r>
              <a:rPr lang="en-GB"/>
              <a:t>Food item is suggested along with</a:t>
            </a:r>
            <a:r>
              <a:rPr b="1" lang="en-GB"/>
              <a:t> Health Rating </a:t>
            </a:r>
            <a:r>
              <a:rPr lang="en-GB"/>
              <a:t>and in</a:t>
            </a:r>
            <a:r>
              <a:rPr b="1" lang="en-GB"/>
              <a:t> Low , Medium or High/Healthy category.</a:t>
            </a:r>
            <a:endParaRPr b="1"/>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type="title"/>
          </p:nvPr>
        </p:nvSpPr>
        <p:spPr>
          <a:xfrm>
            <a:off x="311700" y="314250"/>
            <a:ext cx="82089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200"/>
              <a:t>Conclusion</a:t>
            </a:r>
            <a:endParaRPr sz="3200"/>
          </a:p>
        </p:txBody>
      </p:sp>
      <p:sp>
        <p:nvSpPr>
          <p:cNvPr id="294" name="Google Shape;294;p43"/>
          <p:cNvSpPr txBox="1"/>
          <p:nvPr>
            <p:ph idx="1" type="body"/>
          </p:nvPr>
        </p:nvSpPr>
        <p:spPr>
          <a:xfrm>
            <a:off x="311700" y="1236675"/>
            <a:ext cx="8520600" cy="3566700"/>
          </a:xfrm>
          <a:prstGeom prst="rect">
            <a:avLst/>
          </a:prstGeom>
        </p:spPr>
        <p:txBody>
          <a:bodyPr anchorCtr="0" anchor="t" bIns="91425" lIns="91425" spcFirstLastPara="1" rIns="91425" wrap="square" tIns="91425">
            <a:noAutofit/>
          </a:bodyPr>
          <a:lstStyle/>
          <a:p>
            <a:pPr indent="-361950" lvl="0" marL="457200" rtl="0" algn="just">
              <a:lnSpc>
                <a:spcPct val="150000"/>
              </a:lnSpc>
              <a:spcBef>
                <a:spcPts val="0"/>
              </a:spcBef>
              <a:spcAft>
                <a:spcPts val="0"/>
              </a:spcAft>
              <a:buClr>
                <a:srgbClr val="000000"/>
              </a:buClr>
              <a:buSzPts val="2100"/>
              <a:buFont typeface="Calibri"/>
              <a:buChar char="●"/>
            </a:pPr>
            <a:r>
              <a:rPr lang="en-GB" sz="2100">
                <a:solidFill>
                  <a:srgbClr val="000000"/>
                </a:solidFill>
                <a:latin typeface="Calibri"/>
                <a:ea typeface="Calibri"/>
                <a:cs typeface="Calibri"/>
                <a:sym typeface="Calibri"/>
              </a:rPr>
              <a:t>There is a scope to implement health tips based on consumption patterns.</a:t>
            </a:r>
            <a:endParaRPr sz="2100">
              <a:solidFill>
                <a:srgbClr val="000000"/>
              </a:solidFill>
              <a:latin typeface="Calibri"/>
              <a:ea typeface="Calibri"/>
              <a:cs typeface="Calibri"/>
              <a:sym typeface="Calibri"/>
            </a:endParaRPr>
          </a:p>
          <a:p>
            <a:pPr indent="-361950" lvl="0" marL="457200" rtl="0" algn="just">
              <a:lnSpc>
                <a:spcPct val="150000"/>
              </a:lnSpc>
              <a:spcBef>
                <a:spcPts val="0"/>
              </a:spcBef>
              <a:spcAft>
                <a:spcPts val="0"/>
              </a:spcAft>
              <a:buClr>
                <a:srgbClr val="000000"/>
              </a:buClr>
              <a:buSzPts val="2100"/>
              <a:buFont typeface="Calibri"/>
              <a:buChar char="●"/>
            </a:pPr>
            <a:r>
              <a:rPr lang="en-GB" sz="2100">
                <a:solidFill>
                  <a:srgbClr val="000000"/>
                </a:solidFill>
                <a:latin typeface="Calibri"/>
                <a:ea typeface="Calibri"/>
                <a:cs typeface="Calibri"/>
                <a:sym typeface="Calibri"/>
              </a:rPr>
              <a:t>Ingredients prone to diseases can be used after classifying them for further developments.</a:t>
            </a:r>
            <a:endParaRPr sz="2100">
              <a:solidFill>
                <a:srgbClr val="000000"/>
              </a:solidFill>
              <a:latin typeface="Calibri"/>
              <a:ea typeface="Calibri"/>
              <a:cs typeface="Calibri"/>
              <a:sym typeface="Calibri"/>
            </a:endParaRPr>
          </a:p>
          <a:p>
            <a:pPr indent="-361950" lvl="0" marL="457200" rtl="0" algn="just">
              <a:lnSpc>
                <a:spcPct val="150000"/>
              </a:lnSpc>
              <a:spcBef>
                <a:spcPts val="0"/>
              </a:spcBef>
              <a:spcAft>
                <a:spcPts val="0"/>
              </a:spcAft>
              <a:buClr>
                <a:srgbClr val="000000"/>
              </a:buClr>
              <a:buSzPts val="2100"/>
              <a:buFont typeface="Calibri"/>
              <a:buChar char="●"/>
            </a:pPr>
            <a:r>
              <a:rPr lang="en-GB" sz="2100">
                <a:solidFill>
                  <a:srgbClr val="000000"/>
                </a:solidFill>
                <a:latin typeface="Calibri"/>
                <a:ea typeface="Calibri"/>
                <a:cs typeface="Calibri"/>
                <a:sym typeface="Calibri"/>
              </a:rPr>
              <a:t>We found the efficient algorithm to suggest the food data.</a:t>
            </a:r>
            <a:endParaRPr sz="2100">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ph type="title"/>
          </p:nvPr>
        </p:nvSpPr>
        <p:spPr>
          <a:xfrm>
            <a:off x="222000" y="21849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000">
                <a:latin typeface="Calibri"/>
                <a:ea typeface="Calibri"/>
                <a:cs typeface="Calibri"/>
                <a:sym typeface="Calibri"/>
              </a:rPr>
              <a:t>LIMITATIONS</a:t>
            </a:r>
            <a:endParaRPr sz="4000">
              <a:latin typeface="Calibri"/>
              <a:ea typeface="Calibri"/>
              <a:cs typeface="Calibri"/>
              <a:sym typeface="Calibri"/>
            </a:endParaRPr>
          </a:p>
        </p:txBody>
      </p:sp>
      <p:sp>
        <p:nvSpPr>
          <p:cNvPr id="300" name="Google Shape;300;p44"/>
          <p:cNvSpPr txBox="1"/>
          <p:nvPr/>
        </p:nvSpPr>
        <p:spPr>
          <a:xfrm>
            <a:off x="316000" y="983850"/>
            <a:ext cx="7755000" cy="3488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GB" sz="2000">
                <a:solidFill>
                  <a:srgbClr val="FFFFFF"/>
                </a:solidFill>
                <a:latin typeface="Calibri"/>
                <a:ea typeface="Calibri"/>
                <a:cs typeface="Calibri"/>
                <a:sym typeface="Calibri"/>
              </a:rPr>
              <a:t>The obstacles arise due to different factors like,</a:t>
            </a:r>
            <a:endParaRPr b="1" sz="2000">
              <a:solidFill>
                <a:srgbClr val="FFFFFF"/>
              </a:solidFill>
              <a:latin typeface="Calibri"/>
              <a:ea typeface="Calibri"/>
              <a:cs typeface="Calibri"/>
              <a:sym typeface="Calibri"/>
            </a:endParaRPr>
          </a:p>
          <a:p>
            <a:pPr indent="-355600" lvl="0" marL="457200" rtl="0" algn="just">
              <a:lnSpc>
                <a:spcPct val="115000"/>
              </a:lnSpc>
              <a:spcBef>
                <a:spcPts val="1200"/>
              </a:spcBef>
              <a:spcAft>
                <a:spcPts val="0"/>
              </a:spcAft>
              <a:buClr>
                <a:srgbClr val="FFFFFF"/>
              </a:buClr>
              <a:buSzPts val="2000"/>
              <a:buFont typeface="Calibri"/>
              <a:buChar char="●"/>
            </a:pPr>
            <a:r>
              <a:rPr b="1" lang="en-GB" sz="2000">
                <a:solidFill>
                  <a:srgbClr val="FFFFFF"/>
                </a:solidFill>
                <a:latin typeface="Calibri"/>
                <a:ea typeface="Calibri"/>
                <a:cs typeface="Calibri"/>
                <a:sym typeface="Calibri"/>
              </a:rPr>
              <a:t>Lack of proper dataset of daily consumption of different age groups.</a:t>
            </a:r>
            <a:endParaRPr b="1" sz="2000">
              <a:solidFill>
                <a:srgbClr val="FFFFFF"/>
              </a:solidFill>
              <a:latin typeface="Calibri"/>
              <a:ea typeface="Calibri"/>
              <a:cs typeface="Calibri"/>
              <a:sym typeface="Calibri"/>
            </a:endParaRPr>
          </a:p>
          <a:p>
            <a:pPr indent="-355600" lvl="0" marL="457200" rtl="0" algn="just">
              <a:lnSpc>
                <a:spcPct val="150000"/>
              </a:lnSpc>
              <a:spcBef>
                <a:spcPts val="0"/>
              </a:spcBef>
              <a:spcAft>
                <a:spcPts val="0"/>
              </a:spcAft>
              <a:buClr>
                <a:srgbClr val="FFFFFF"/>
              </a:buClr>
              <a:buSzPts val="2000"/>
              <a:buFont typeface="Calibri"/>
              <a:buChar char="●"/>
            </a:pPr>
            <a:r>
              <a:rPr b="1" lang="en-GB" sz="2000">
                <a:solidFill>
                  <a:srgbClr val="FFFFFF"/>
                </a:solidFill>
                <a:latin typeface="Calibri"/>
                <a:ea typeface="Calibri"/>
                <a:cs typeface="Calibri"/>
                <a:sym typeface="Calibri"/>
              </a:rPr>
              <a:t>There are many unlikely values which do not provide good efficiency.</a:t>
            </a:r>
            <a:endParaRPr b="1" sz="2000">
              <a:solidFill>
                <a:srgbClr val="FFFFFF"/>
              </a:solidFill>
              <a:latin typeface="Calibri"/>
              <a:ea typeface="Calibri"/>
              <a:cs typeface="Calibri"/>
              <a:sym typeface="Calibri"/>
            </a:endParaRPr>
          </a:p>
          <a:p>
            <a:pPr indent="-355600" lvl="0" marL="457200" rtl="0" algn="just">
              <a:lnSpc>
                <a:spcPct val="150000"/>
              </a:lnSpc>
              <a:spcBef>
                <a:spcPts val="0"/>
              </a:spcBef>
              <a:spcAft>
                <a:spcPts val="0"/>
              </a:spcAft>
              <a:buClr>
                <a:srgbClr val="FFFFFF"/>
              </a:buClr>
              <a:buSzPts val="2000"/>
              <a:buFont typeface="Calibri"/>
              <a:buChar char="●"/>
            </a:pPr>
            <a:r>
              <a:rPr b="1" lang="en-GB" sz="2000">
                <a:solidFill>
                  <a:srgbClr val="FFFFFF"/>
                </a:solidFill>
                <a:latin typeface="Calibri"/>
                <a:ea typeface="Calibri"/>
                <a:cs typeface="Calibri"/>
                <a:sym typeface="Calibri"/>
              </a:rPr>
              <a:t>There are several keywords available like numerical values, some inconsistent prepositions, etc.</a:t>
            </a:r>
            <a:endParaRPr b="1" sz="2000">
              <a:solidFill>
                <a:srgbClr val="FFFFFF"/>
              </a:solidFill>
              <a:latin typeface="Calibri"/>
              <a:ea typeface="Calibri"/>
              <a:cs typeface="Calibri"/>
              <a:sym typeface="Calibri"/>
            </a:endParaRPr>
          </a:p>
          <a:p>
            <a:pPr indent="-355600" lvl="0" marL="457200" rtl="0" algn="just">
              <a:lnSpc>
                <a:spcPct val="150000"/>
              </a:lnSpc>
              <a:spcBef>
                <a:spcPts val="0"/>
              </a:spcBef>
              <a:spcAft>
                <a:spcPts val="0"/>
              </a:spcAft>
              <a:buClr>
                <a:srgbClr val="FFFFFF"/>
              </a:buClr>
              <a:buSzPts val="2000"/>
              <a:buFont typeface="Calibri"/>
              <a:buChar char="●"/>
            </a:pPr>
            <a:r>
              <a:rPr b="1" lang="en-GB" sz="2000">
                <a:solidFill>
                  <a:srgbClr val="FFFFFF"/>
                </a:solidFill>
                <a:latin typeface="Calibri"/>
                <a:ea typeface="Calibri"/>
                <a:cs typeface="Calibri"/>
                <a:sym typeface="Calibri"/>
              </a:rPr>
              <a:t>This is a generalised application for every user. We need to modify this for user-specific requirements.</a:t>
            </a:r>
            <a:endParaRPr b="1" sz="2000">
              <a:solidFill>
                <a:srgbClr val="FFFFFF"/>
              </a:solidFill>
              <a:latin typeface="Calibri"/>
              <a:ea typeface="Calibri"/>
              <a:cs typeface="Calibri"/>
              <a:sym typeface="Calibri"/>
            </a:endParaRPr>
          </a:p>
          <a:p>
            <a:pPr indent="0" lvl="0" marL="0" rtl="0" algn="l">
              <a:lnSpc>
                <a:spcPct val="115000"/>
              </a:lnSpc>
              <a:spcBef>
                <a:spcPts val="0"/>
              </a:spcBef>
              <a:spcAft>
                <a:spcPts val="0"/>
              </a:spcAft>
              <a:buNone/>
            </a:pPr>
            <a:r>
              <a:t/>
            </a:r>
            <a:endParaRPr b="1" sz="1100">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5"/>
          <p:cNvSpPr txBox="1"/>
          <p:nvPr>
            <p:ph idx="4294967295" type="body"/>
          </p:nvPr>
        </p:nvSpPr>
        <p:spPr>
          <a:xfrm>
            <a:off x="402875" y="1097600"/>
            <a:ext cx="7896600" cy="3334200"/>
          </a:xfrm>
          <a:prstGeom prst="rect">
            <a:avLst/>
          </a:prstGeom>
        </p:spPr>
        <p:txBody>
          <a:bodyPr anchorCtr="0" anchor="t" bIns="91425" lIns="91425" spcFirstLastPara="1" rIns="91425" wrap="square" tIns="91425">
            <a:noAutofit/>
          </a:bodyPr>
          <a:lstStyle/>
          <a:p>
            <a:pPr indent="-361950" lvl="0" marL="457200" rtl="0" algn="just">
              <a:lnSpc>
                <a:spcPct val="150000"/>
              </a:lnSpc>
              <a:spcBef>
                <a:spcPts val="0"/>
              </a:spcBef>
              <a:spcAft>
                <a:spcPts val="0"/>
              </a:spcAft>
              <a:buClr>
                <a:schemeClr val="lt1"/>
              </a:buClr>
              <a:buSzPts val="2100"/>
              <a:buChar char="●"/>
            </a:pPr>
            <a:r>
              <a:rPr b="1" lang="en-GB" sz="2100">
                <a:solidFill>
                  <a:schemeClr val="lt1"/>
                </a:solidFill>
              </a:rPr>
              <a:t>We can take Allergies and other health related problems into consideration.</a:t>
            </a:r>
            <a:endParaRPr b="1" sz="2100">
              <a:solidFill>
                <a:schemeClr val="lt1"/>
              </a:solidFill>
            </a:endParaRPr>
          </a:p>
          <a:p>
            <a:pPr indent="-361950" lvl="0" marL="457200" rtl="0" algn="l">
              <a:spcBef>
                <a:spcPts val="0"/>
              </a:spcBef>
              <a:spcAft>
                <a:spcPts val="0"/>
              </a:spcAft>
              <a:buClr>
                <a:srgbClr val="FFFFFF"/>
              </a:buClr>
              <a:buSzPts val="2100"/>
              <a:buChar char="●"/>
            </a:pPr>
            <a:r>
              <a:rPr b="1" lang="en-GB" sz="2100">
                <a:solidFill>
                  <a:schemeClr val="lt1"/>
                </a:solidFill>
              </a:rPr>
              <a:t>Healthier food alternatives can be suggested to users.</a:t>
            </a:r>
            <a:endParaRPr b="1" sz="2100">
              <a:solidFill>
                <a:schemeClr val="lt1"/>
              </a:solidFill>
            </a:endParaRPr>
          </a:p>
          <a:p>
            <a:pPr indent="-361950" lvl="0" marL="457200" rtl="0" algn="l">
              <a:spcBef>
                <a:spcPts val="0"/>
              </a:spcBef>
              <a:spcAft>
                <a:spcPts val="0"/>
              </a:spcAft>
              <a:buClr>
                <a:srgbClr val="FFFFFF"/>
              </a:buClr>
              <a:buSzPts val="2100"/>
              <a:buChar char="●"/>
            </a:pPr>
            <a:r>
              <a:rPr b="1" lang="en-GB" sz="2100">
                <a:solidFill>
                  <a:srgbClr val="FFFFFF"/>
                </a:solidFill>
              </a:rPr>
              <a:t>Further</a:t>
            </a:r>
            <a:r>
              <a:rPr b="1" lang="en-GB" sz="2100">
                <a:solidFill>
                  <a:srgbClr val="FFFFFF"/>
                </a:solidFill>
              </a:rPr>
              <a:t> preprocessing is required (Undecided terms such as “Gluten free” &amp; “Gluten”) </a:t>
            </a:r>
            <a:endParaRPr b="1" sz="2100">
              <a:solidFill>
                <a:srgbClr val="FFFFFF"/>
              </a:solidFill>
            </a:endParaRPr>
          </a:p>
          <a:p>
            <a:pPr indent="-361950" lvl="0" marL="457200" rtl="0" algn="l">
              <a:spcBef>
                <a:spcPts val="0"/>
              </a:spcBef>
              <a:spcAft>
                <a:spcPts val="0"/>
              </a:spcAft>
              <a:buClr>
                <a:srgbClr val="FFFFFF"/>
              </a:buClr>
              <a:buSzPts val="2100"/>
              <a:buChar char="●"/>
            </a:pPr>
            <a:r>
              <a:rPr b="1" lang="en-GB" sz="2100">
                <a:solidFill>
                  <a:srgbClr val="FFFFFF"/>
                </a:solidFill>
              </a:rPr>
              <a:t>We can develop a machine learning model which will help in generating the tips with the help of binary classification problems.</a:t>
            </a:r>
            <a:endParaRPr b="1" sz="2100">
              <a:solidFill>
                <a:srgbClr val="FFFFFF"/>
              </a:solidFill>
            </a:endParaRPr>
          </a:p>
          <a:p>
            <a:pPr indent="-361950" lvl="0" marL="457200" rtl="0" algn="just">
              <a:lnSpc>
                <a:spcPct val="150000"/>
              </a:lnSpc>
              <a:spcBef>
                <a:spcPts val="0"/>
              </a:spcBef>
              <a:spcAft>
                <a:spcPts val="0"/>
              </a:spcAft>
              <a:buClr>
                <a:srgbClr val="FFFFFF"/>
              </a:buClr>
              <a:buSzPts val="2100"/>
              <a:buChar char="●"/>
            </a:pPr>
            <a:r>
              <a:rPr b="1" lang="en-GB" sz="2100">
                <a:solidFill>
                  <a:srgbClr val="FFFFFF"/>
                </a:solidFill>
              </a:rPr>
              <a:t>Obesity can also be traced with the help of calories intake.</a:t>
            </a:r>
            <a:endParaRPr b="1" sz="2100">
              <a:solidFill>
                <a:srgbClr val="FFFFFF"/>
              </a:solidFill>
            </a:endParaRPr>
          </a:p>
        </p:txBody>
      </p:sp>
      <p:sp>
        <p:nvSpPr>
          <p:cNvPr id="306" name="Google Shape;306;p45"/>
          <p:cNvSpPr txBox="1"/>
          <p:nvPr>
            <p:ph type="title"/>
          </p:nvPr>
        </p:nvSpPr>
        <p:spPr>
          <a:xfrm>
            <a:off x="302650" y="25879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600">
                <a:solidFill>
                  <a:srgbClr val="FFFFFF"/>
                </a:solidFill>
              </a:rPr>
              <a:t>FUTURE SCOPE</a:t>
            </a:r>
            <a:endParaRPr sz="3600">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6"/>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THANK YOU !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7"/>
          <p:cNvSpPr txBox="1"/>
          <p:nvPr>
            <p:ph type="title"/>
          </p:nvPr>
        </p:nvSpPr>
        <p:spPr>
          <a:xfrm>
            <a:off x="311700" y="1256050"/>
            <a:ext cx="8520600" cy="2030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7300"/>
              <a:t>APPENDIX</a:t>
            </a:r>
            <a:r>
              <a:rPr lang="en-GB" sz="7300"/>
              <a:t> </a:t>
            </a:r>
            <a:endParaRPr sz="7300"/>
          </a:p>
        </p:txBody>
      </p:sp>
      <p:sp>
        <p:nvSpPr>
          <p:cNvPr id="317" name="Google Shape;317;p47"/>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GB"/>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48"/>
          <p:cNvPicPr preferRelativeResize="0"/>
          <p:nvPr/>
        </p:nvPicPr>
        <p:blipFill rotWithShape="1">
          <a:blip r:embed="rId3">
            <a:alphaModFix/>
          </a:blip>
          <a:srcRect b="54787" l="0" r="0" t="0"/>
          <a:stretch/>
        </p:blipFill>
        <p:spPr>
          <a:xfrm>
            <a:off x="845375" y="246225"/>
            <a:ext cx="7091549" cy="2325524"/>
          </a:xfrm>
          <a:prstGeom prst="rect">
            <a:avLst/>
          </a:prstGeom>
          <a:noFill/>
          <a:ln>
            <a:noFill/>
          </a:ln>
        </p:spPr>
      </p:pic>
      <p:sp>
        <p:nvSpPr>
          <p:cNvPr id="323" name="Google Shape;323;p48"/>
          <p:cNvSpPr txBox="1"/>
          <p:nvPr>
            <p:ph type="title"/>
          </p:nvPr>
        </p:nvSpPr>
        <p:spPr>
          <a:xfrm>
            <a:off x="409250" y="3206800"/>
            <a:ext cx="5298300" cy="88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3200">
                <a:latin typeface="Times New Roman"/>
                <a:ea typeface="Times New Roman"/>
                <a:cs typeface="Times New Roman"/>
                <a:sym typeface="Times New Roman"/>
              </a:rPr>
              <a:t>Restaurant </a:t>
            </a:r>
            <a:r>
              <a:rPr b="1" lang="en-GB" sz="3200">
                <a:latin typeface="Times New Roman"/>
                <a:ea typeface="Times New Roman"/>
                <a:cs typeface="Times New Roman"/>
                <a:sym typeface="Times New Roman"/>
              </a:rPr>
              <a:t>Dataset</a:t>
            </a:r>
            <a:endParaRPr b="1" sz="32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type="title"/>
          </p:nvPr>
        </p:nvSpPr>
        <p:spPr>
          <a:xfrm>
            <a:off x="6906250" y="722350"/>
            <a:ext cx="2337000" cy="184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3200">
                <a:latin typeface="Times New Roman"/>
                <a:ea typeface="Times New Roman"/>
                <a:cs typeface="Times New Roman"/>
                <a:sym typeface="Times New Roman"/>
              </a:rPr>
              <a:t>Homemade food</a:t>
            </a:r>
            <a:r>
              <a:rPr b="1" lang="en-GB" sz="3200">
                <a:latin typeface="Times New Roman"/>
                <a:ea typeface="Times New Roman"/>
                <a:cs typeface="Times New Roman"/>
                <a:sym typeface="Times New Roman"/>
              </a:rPr>
              <a:t> Dataset</a:t>
            </a:r>
            <a:endParaRPr b="1" sz="3200">
              <a:latin typeface="Times New Roman"/>
              <a:ea typeface="Times New Roman"/>
              <a:cs typeface="Times New Roman"/>
              <a:sym typeface="Times New Roman"/>
            </a:endParaRPr>
          </a:p>
        </p:txBody>
      </p:sp>
      <p:pic>
        <p:nvPicPr>
          <p:cNvPr id="329" name="Google Shape;329;p49"/>
          <p:cNvPicPr preferRelativeResize="0"/>
          <p:nvPr/>
        </p:nvPicPr>
        <p:blipFill>
          <a:blip r:embed="rId3">
            <a:alphaModFix/>
          </a:blip>
          <a:stretch>
            <a:fillRect/>
          </a:stretch>
        </p:blipFill>
        <p:spPr>
          <a:xfrm>
            <a:off x="349175" y="217324"/>
            <a:ext cx="6557073" cy="39132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0"/>
          <p:cNvSpPr txBox="1"/>
          <p:nvPr>
            <p:ph type="title"/>
          </p:nvPr>
        </p:nvSpPr>
        <p:spPr>
          <a:xfrm>
            <a:off x="182863" y="154850"/>
            <a:ext cx="80238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Text Recognition</a:t>
            </a:r>
            <a:endParaRPr/>
          </a:p>
        </p:txBody>
      </p:sp>
      <p:sp>
        <p:nvSpPr>
          <p:cNvPr id="335" name="Google Shape;335;p50"/>
          <p:cNvSpPr txBox="1"/>
          <p:nvPr>
            <p:ph idx="1" type="body"/>
          </p:nvPr>
        </p:nvSpPr>
        <p:spPr>
          <a:xfrm>
            <a:off x="311700" y="788400"/>
            <a:ext cx="8520600" cy="3566700"/>
          </a:xfrm>
          <a:prstGeom prst="rect">
            <a:avLst/>
          </a:prstGeom>
        </p:spPr>
        <p:txBody>
          <a:bodyPr anchorCtr="0" anchor="t" bIns="91425" lIns="91425" spcFirstLastPara="1" rIns="91425" wrap="square" tIns="91425">
            <a:noAutofit/>
          </a:bodyPr>
          <a:lstStyle/>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Text Recognition will be done with the help of Text Recognition API, part of ML Kit for Firebase.</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Document text recognition is available only as a cloud-based model. </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ML Kit works with TensorFlow, and this is a machine learning library for iOS and Android operating systems.</a:t>
            </a:r>
            <a:endParaRPr>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t/>
            </a:r>
            <a:endParaRPr>
              <a:solidFill>
                <a:srgbClr val="000000"/>
              </a:solidFill>
              <a:latin typeface="Calibri"/>
              <a:ea typeface="Calibri"/>
              <a:cs typeface="Calibri"/>
              <a:sym typeface="Calibri"/>
            </a:endParaRPr>
          </a:p>
        </p:txBody>
      </p:sp>
      <p:pic>
        <p:nvPicPr>
          <p:cNvPr id="336" name="Google Shape;336;p50"/>
          <p:cNvPicPr preferRelativeResize="0"/>
          <p:nvPr/>
        </p:nvPicPr>
        <p:blipFill>
          <a:blip r:embed="rId3">
            <a:alphaModFix/>
          </a:blip>
          <a:stretch>
            <a:fillRect/>
          </a:stretch>
        </p:blipFill>
        <p:spPr>
          <a:xfrm>
            <a:off x="5295275" y="2976575"/>
            <a:ext cx="3225325" cy="1820000"/>
          </a:xfrm>
          <a:prstGeom prst="rect">
            <a:avLst/>
          </a:prstGeom>
          <a:noFill/>
          <a:ln>
            <a:noFill/>
          </a:ln>
        </p:spPr>
      </p:pic>
      <p:pic>
        <p:nvPicPr>
          <p:cNvPr id="337" name="Google Shape;337;p50"/>
          <p:cNvPicPr preferRelativeResize="0"/>
          <p:nvPr/>
        </p:nvPicPr>
        <p:blipFill rotWithShape="1">
          <a:blip r:embed="rId4">
            <a:alphaModFix/>
          </a:blip>
          <a:srcRect b="0" l="0" r="44748" t="0"/>
          <a:stretch/>
        </p:blipFill>
        <p:spPr>
          <a:xfrm>
            <a:off x="3094250" y="2752853"/>
            <a:ext cx="2201025" cy="22674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1"/>
          <p:cNvSpPr txBox="1"/>
          <p:nvPr>
            <p:ph type="title"/>
          </p:nvPr>
        </p:nvSpPr>
        <p:spPr>
          <a:xfrm>
            <a:off x="537175" y="168275"/>
            <a:ext cx="41901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APRIORI ALGORITHM</a:t>
            </a:r>
            <a:endParaRPr/>
          </a:p>
        </p:txBody>
      </p:sp>
      <p:sp>
        <p:nvSpPr>
          <p:cNvPr id="343" name="Google Shape;343;p51"/>
          <p:cNvSpPr txBox="1"/>
          <p:nvPr>
            <p:ph idx="1" type="body"/>
          </p:nvPr>
        </p:nvSpPr>
        <p:spPr>
          <a:xfrm>
            <a:off x="311700" y="923800"/>
            <a:ext cx="8520600" cy="3872700"/>
          </a:xfrm>
          <a:prstGeom prst="rect">
            <a:avLst/>
          </a:prstGeom>
        </p:spPr>
        <p:txBody>
          <a:bodyPr anchorCtr="0" anchor="t" bIns="91425" lIns="91425" spcFirstLastPara="1" rIns="91425" wrap="square" tIns="91425">
            <a:noAutofit/>
          </a:bodyPr>
          <a:lstStyle/>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It is used to extract frequent itemsets from a large database and get the association rule for discovering the knowledge.</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The algorithm makes many searches in the database to find frequent itemsets where k itemsets are used to generate k+1-itemsets.</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Each k-itemset must be greater than or equal to the minimum support threshold to be frequency. </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The main limitation is costly wasting of time to hold a vast number of candidate sets with much frequent itemsets, low minimum support or</a:t>
            </a:r>
            <a:endParaRPr>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lang="en-GB">
                <a:solidFill>
                  <a:srgbClr val="000000"/>
                </a:solidFill>
                <a:latin typeface="Calibri"/>
                <a:ea typeface="Calibri"/>
                <a:cs typeface="Calibri"/>
                <a:sym typeface="Calibri"/>
              </a:rPr>
              <a:t> large itemsets.</a:t>
            </a:r>
            <a:endParaRPr>
              <a:solidFill>
                <a:srgbClr val="000000"/>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2"/>
          <p:cNvSpPr txBox="1"/>
          <p:nvPr>
            <p:ph type="title"/>
          </p:nvPr>
        </p:nvSpPr>
        <p:spPr>
          <a:xfrm>
            <a:off x="228300" y="10112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Improved Apriori Algorithm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49" name="Google Shape;349;p52"/>
          <p:cNvSpPr txBox="1"/>
          <p:nvPr>
            <p:ph idx="1" type="body"/>
          </p:nvPr>
        </p:nvSpPr>
        <p:spPr>
          <a:xfrm>
            <a:off x="311700" y="708925"/>
            <a:ext cx="8520600" cy="4087500"/>
          </a:xfrm>
          <a:prstGeom prst="rect">
            <a:avLst/>
          </a:prstGeom>
        </p:spPr>
        <p:txBody>
          <a:bodyPr anchorCtr="0" anchor="t" bIns="91425" lIns="91425" spcFirstLastPara="1" rIns="91425" wrap="square" tIns="91425">
            <a:noAutofit/>
          </a:bodyPr>
          <a:lstStyle/>
          <a:p>
            <a:pPr indent="0" lvl="0" marL="457200" rtl="0" algn="just">
              <a:lnSpc>
                <a:spcPct val="150000"/>
              </a:lnSpc>
              <a:spcBef>
                <a:spcPts val="0"/>
              </a:spcBef>
              <a:spcAft>
                <a:spcPts val="0"/>
              </a:spcAft>
              <a:buNone/>
            </a:pPr>
            <a:r>
              <a:rPr b="1" lang="en-GB" sz="1400">
                <a:solidFill>
                  <a:srgbClr val="000000"/>
                </a:solidFill>
                <a:latin typeface="Calibri"/>
                <a:ea typeface="Calibri"/>
                <a:cs typeface="Calibri"/>
                <a:sym typeface="Calibri"/>
              </a:rPr>
              <a:t>//Generate items, items support, their transaction ID</a:t>
            </a:r>
            <a:endParaRPr b="1"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lang="en-GB" sz="1400">
                <a:solidFill>
                  <a:srgbClr val="000000"/>
                </a:solidFill>
                <a:latin typeface="Calibri"/>
                <a:ea typeface="Calibri"/>
                <a:cs typeface="Calibri"/>
                <a:sym typeface="Calibri"/>
              </a:rPr>
              <a:t>(1) L1 = find_frequent_1_itemsets (T);</a:t>
            </a:r>
            <a:endParaRPr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lang="en-GB" sz="1400">
                <a:solidFill>
                  <a:srgbClr val="000000"/>
                </a:solidFill>
                <a:latin typeface="Calibri"/>
                <a:ea typeface="Calibri"/>
                <a:cs typeface="Calibri"/>
                <a:sym typeface="Calibri"/>
              </a:rPr>
              <a:t>(2) For (k = 2; Lk-1 ; k++) {</a:t>
            </a:r>
            <a:endParaRPr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b="1" lang="en-GB" sz="1400">
                <a:solidFill>
                  <a:srgbClr val="000000"/>
                </a:solidFill>
                <a:latin typeface="Calibri"/>
                <a:ea typeface="Calibri"/>
                <a:cs typeface="Calibri"/>
                <a:sym typeface="Calibri"/>
              </a:rPr>
              <a:t>//Generate the Ck from the LK-1</a:t>
            </a:r>
            <a:endParaRPr b="1"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lang="en-GB" sz="1400">
                <a:solidFill>
                  <a:srgbClr val="000000"/>
                </a:solidFill>
                <a:latin typeface="Calibri"/>
                <a:ea typeface="Calibri"/>
                <a:cs typeface="Calibri"/>
                <a:sym typeface="Calibri"/>
              </a:rPr>
              <a:t>(3) Ck = candidates generated from Lk-1;</a:t>
            </a:r>
            <a:endParaRPr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b="1" lang="en-GB" sz="1400">
                <a:solidFill>
                  <a:srgbClr val="000000"/>
                </a:solidFill>
                <a:latin typeface="Calibri"/>
                <a:ea typeface="Calibri"/>
                <a:cs typeface="Calibri"/>
                <a:sym typeface="Calibri"/>
              </a:rPr>
              <a:t>//get the item Iw with minimum support in Ck using L1, (1wk).</a:t>
            </a:r>
            <a:endParaRPr b="1"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lang="en-GB" sz="1400">
                <a:solidFill>
                  <a:srgbClr val="000000"/>
                </a:solidFill>
                <a:latin typeface="Calibri"/>
                <a:ea typeface="Calibri"/>
                <a:cs typeface="Calibri"/>
                <a:sym typeface="Calibri"/>
              </a:rPr>
              <a:t>(4) x = Get _item_min_sup(Ck, L1);</a:t>
            </a:r>
            <a:endParaRPr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b="1" lang="en-GB" sz="1400">
                <a:solidFill>
                  <a:srgbClr val="000000"/>
                </a:solidFill>
                <a:latin typeface="Calibri"/>
                <a:ea typeface="Calibri"/>
                <a:cs typeface="Calibri"/>
                <a:sym typeface="Calibri"/>
              </a:rPr>
              <a:t>// get the target transaction IDs that contain item x.</a:t>
            </a:r>
            <a:endParaRPr b="1"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lang="en-GB" sz="1400">
                <a:solidFill>
                  <a:srgbClr val="000000"/>
                </a:solidFill>
                <a:latin typeface="Calibri"/>
                <a:ea typeface="Calibri"/>
                <a:cs typeface="Calibri"/>
                <a:sym typeface="Calibri"/>
              </a:rPr>
              <a:t>(5) Tgt = get_Transaction_ID(x);</a:t>
            </a:r>
            <a:endParaRPr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lang="en-GB" sz="1400">
                <a:solidFill>
                  <a:srgbClr val="000000"/>
                </a:solidFill>
                <a:latin typeface="Calibri"/>
                <a:ea typeface="Calibri"/>
                <a:cs typeface="Calibri"/>
                <a:sym typeface="Calibri"/>
              </a:rPr>
              <a:t>(6) For each transaction t in Tgt Do</a:t>
            </a:r>
            <a:endParaRPr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lang="en-GB" sz="1400">
                <a:solidFill>
                  <a:srgbClr val="000000"/>
                </a:solidFill>
                <a:latin typeface="Calibri"/>
                <a:ea typeface="Calibri"/>
                <a:cs typeface="Calibri"/>
                <a:sym typeface="Calibri"/>
              </a:rPr>
              <a:t>(7) Increment the count of all items in Ck that are found in Tgt;</a:t>
            </a:r>
            <a:endParaRPr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lang="en-GB" sz="1400">
                <a:solidFill>
                  <a:srgbClr val="000000"/>
                </a:solidFill>
                <a:latin typeface="Calibri"/>
                <a:ea typeface="Calibri"/>
                <a:cs typeface="Calibri"/>
                <a:sym typeface="Calibri"/>
              </a:rPr>
              <a:t>(8) Lk= items in Ck  min_support;</a:t>
            </a:r>
            <a:endParaRPr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rPr lang="en-GB" sz="1400">
                <a:solidFill>
                  <a:srgbClr val="000000"/>
                </a:solidFill>
                <a:latin typeface="Calibri"/>
                <a:ea typeface="Calibri"/>
                <a:cs typeface="Calibri"/>
                <a:sym typeface="Calibri"/>
              </a:rPr>
              <a:t>(9) End;</a:t>
            </a:r>
            <a:endParaRPr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t/>
            </a:r>
            <a:endParaRPr sz="1400">
              <a:solidFill>
                <a:srgbClr val="000000"/>
              </a:solidFill>
              <a:latin typeface="Calibri"/>
              <a:ea typeface="Calibri"/>
              <a:cs typeface="Calibri"/>
              <a:sym typeface="Calibri"/>
            </a:endParaRPr>
          </a:p>
          <a:p>
            <a:pPr indent="0" lvl="0" marL="457200" rtl="0" algn="just">
              <a:lnSpc>
                <a:spcPct val="150000"/>
              </a:lnSpc>
              <a:spcBef>
                <a:spcPts val="0"/>
              </a:spcBef>
              <a:spcAft>
                <a:spcPts val="0"/>
              </a:spcAft>
              <a:buNone/>
            </a:pPr>
            <a:r>
              <a:t/>
            </a:r>
            <a:endParaRPr sz="1600">
              <a:solidFill>
                <a:srgbClr val="000000"/>
              </a:solidFill>
            </a:endParaRPr>
          </a:p>
        </p:txBody>
      </p:sp>
      <p:pic>
        <p:nvPicPr>
          <p:cNvPr id="350" name="Google Shape;350;p52"/>
          <p:cNvPicPr preferRelativeResize="0"/>
          <p:nvPr/>
        </p:nvPicPr>
        <p:blipFill rotWithShape="1">
          <a:blip r:embed="rId3">
            <a:alphaModFix/>
          </a:blip>
          <a:srcRect b="0" l="-6326" r="0" t="0"/>
          <a:stretch/>
        </p:blipFill>
        <p:spPr>
          <a:xfrm>
            <a:off x="5143500" y="101125"/>
            <a:ext cx="3836525" cy="32428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3"/>
          <p:cNvSpPr txBox="1"/>
          <p:nvPr>
            <p:ph type="title"/>
          </p:nvPr>
        </p:nvSpPr>
        <p:spPr>
          <a:xfrm>
            <a:off x="107450" y="6082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ECLAT Algorithm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56" name="Google Shape;356;p53"/>
          <p:cNvSpPr txBox="1"/>
          <p:nvPr>
            <p:ph idx="1" type="body"/>
          </p:nvPr>
        </p:nvSpPr>
        <p:spPr>
          <a:xfrm>
            <a:off x="193675" y="668625"/>
            <a:ext cx="8520600" cy="3566700"/>
          </a:xfrm>
          <a:prstGeom prst="rect">
            <a:avLst/>
          </a:prstGeom>
        </p:spPr>
        <p:txBody>
          <a:bodyPr anchorCtr="0" anchor="t" bIns="91425" lIns="91425" spcFirstLastPara="1" rIns="91425" wrap="square" tIns="91425">
            <a:noAutofit/>
          </a:bodyPr>
          <a:lstStyle/>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Eclat is a vertical database layout algorithm used for mining frequent itemsets.</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It is based on a depth first search algorithm.</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The data is represented in a bit matrix form.</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If the item is bought in a particular transaction the bit is set to one else to zero.</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After that a prefix tree needs to be constructed. </a:t>
            </a:r>
            <a:endParaRPr>
              <a:solidFill>
                <a:srgbClr val="000000"/>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4"/>
          <p:cNvSpPr txBox="1"/>
          <p:nvPr>
            <p:ph type="title"/>
          </p:nvPr>
        </p:nvSpPr>
        <p:spPr>
          <a:xfrm>
            <a:off x="241725" y="141400"/>
            <a:ext cx="81579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a:t>
            </a:r>
            <a:r>
              <a:rPr lang="en-GB"/>
              <a:t>xample of the Improved Apriori</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62" name="Google Shape;362;p54"/>
          <p:cNvPicPr preferRelativeResize="0"/>
          <p:nvPr/>
        </p:nvPicPr>
        <p:blipFill rotWithShape="1">
          <a:blip r:embed="rId3">
            <a:alphaModFix/>
          </a:blip>
          <a:srcRect b="6581" l="14798" r="16016" t="5775"/>
          <a:stretch/>
        </p:blipFill>
        <p:spPr>
          <a:xfrm>
            <a:off x="470050" y="749200"/>
            <a:ext cx="2323300" cy="2885250"/>
          </a:xfrm>
          <a:prstGeom prst="rect">
            <a:avLst/>
          </a:prstGeom>
          <a:noFill/>
          <a:ln>
            <a:noFill/>
          </a:ln>
        </p:spPr>
      </p:pic>
      <p:pic>
        <p:nvPicPr>
          <p:cNvPr id="363" name="Google Shape;363;p54"/>
          <p:cNvPicPr preferRelativeResize="0"/>
          <p:nvPr/>
        </p:nvPicPr>
        <p:blipFill>
          <a:blip r:embed="rId4">
            <a:alphaModFix/>
          </a:blip>
          <a:stretch>
            <a:fillRect/>
          </a:stretch>
        </p:blipFill>
        <p:spPr>
          <a:xfrm>
            <a:off x="3459150" y="818625"/>
            <a:ext cx="2971800" cy="1838325"/>
          </a:xfrm>
          <a:prstGeom prst="rect">
            <a:avLst/>
          </a:prstGeom>
          <a:noFill/>
          <a:ln>
            <a:noFill/>
          </a:ln>
        </p:spPr>
      </p:pic>
      <p:pic>
        <p:nvPicPr>
          <p:cNvPr id="364" name="Google Shape;364;p54"/>
          <p:cNvPicPr preferRelativeResize="0"/>
          <p:nvPr/>
        </p:nvPicPr>
        <p:blipFill>
          <a:blip r:embed="rId5">
            <a:alphaModFix/>
          </a:blip>
          <a:stretch>
            <a:fillRect/>
          </a:stretch>
        </p:blipFill>
        <p:spPr>
          <a:xfrm>
            <a:off x="3853825" y="2913725"/>
            <a:ext cx="5092325" cy="1856225"/>
          </a:xfrm>
          <a:prstGeom prst="rect">
            <a:avLst/>
          </a:prstGeom>
          <a:noFill/>
          <a:ln>
            <a:noFill/>
          </a:ln>
        </p:spPr>
      </p:pic>
      <p:sp>
        <p:nvSpPr>
          <p:cNvPr id="365" name="Google Shape;365;p54"/>
          <p:cNvSpPr/>
          <p:nvPr/>
        </p:nvSpPr>
        <p:spPr>
          <a:xfrm>
            <a:off x="2954500" y="1584675"/>
            <a:ext cx="671400" cy="309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54"/>
          <p:cNvSpPr/>
          <p:nvPr/>
        </p:nvSpPr>
        <p:spPr>
          <a:xfrm flipH="1" rot="10800000">
            <a:off x="6137300" y="1584825"/>
            <a:ext cx="1302600" cy="12891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5"/>
          <p:cNvSpPr txBox="1"/>
          <p:nvPr>
            <p:ph type="title"/>
          </p:nvPr>
        </p:nvSpPr>
        <p:spPr>
          <a:xfrm>
            <a:off x="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of the FP-Growth</a:t>
            </a:r>
            <a:endParaRPr/>
          </a:p>
          <a:p>
            <a:pPr indent="0" lvl="0" marL="0" rtl="0" algn="l">
              <a:spcBef>
                <a:spcPts val="0"/>
              </a:spcBef>
              <a:spcAft>
                <a:spcPts val="0"/>
              </a:spcAft>
              <a:buNone/>
            </a:pPr>
            <a:r>
              <a:t/>
            </a:r>
            <a:endParaRPr/>
          </a:p>
        </p:txBody>
      </p:sp>
      <p:pic>
        <p:nvPicPr>
          <p:cNvPr id="372" name="Google Shape;372;p55"/>
          <p:cNvPicPr preferRelativeResize="0"/>
          <p:nvPr/>
        </p:nvPicPr>
        <p:blipFill>
          <a:blip r:embed="rId3">
            <a:alphaModFix/>
          </a:blip>
          <a:stretch>
            <a:fillRect/>
          </a:stretch>
        </p:blipFill>
        <p:spPr>
          <a:xfrm>
            <a:off x="0" y="1783200"/>
            <a:ext cx="5601602" cy="1960125"/>
          </a:xfrm>
          <a:prstGeom prst="rect">
            <a:avLst/>
          </a:prstGeom>
          <a:noFill/>
          <a:ln>
            <a:noFill/>
          </a:ln>
        </p:spPr>
      </p:pic>
      <p:pic>
        <p:nvPicPr>
          <p:cNvPr id="373" name="Google Shape;373;p55"/>
          <p:cNvPicPr preferRelativeResize="0"/>
          <p:nvPr/>
        </p:nvPicPr>
        <p:blipFill>
          <a:blip r:embed="rId4">
            <a:alphaModFix/>
          </a:blip>
          <a:stretch>
            <a:fillRect/>
          </a:stretch>
        </p:blipFill>
        <p:spPr>
          <a:xfrm>
            <a:off x="5601600" y="1290724"/>
            <a:ext cx="3542400" cy="217565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6"/>
          <p:cNvSpPr txBox="1"/>
          <p:nvPr>
            <p:ph type="title"/>
          </p:nvPr>
        </p:nvSpPr>
        <p:spPr>
          <a:xfrm>
            <a:off x="311700" y="561200"/>
            <a:ext cx="4764600" cy="45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300"/>
              <a:t>Frequent Ingredients Consumed</a:t>
            </a:r>
            <a:endParaRPr sz="2300"/>
          </a:p>
        </p:txBody>
      </p:sp>
      <p:pic>
        <p:nvPicPr>
          <p:cNvPr id="379" name="Google Shape;379;p56"/>
          <p:cNvPicPr preferRelativeResize="0"/>
          <p:nvPr/>
        </p:nvPicPr>
        <p:blipFill rotWithShape="1">
          <a:blip r:embed="rId3">
            <a:alphaModFix/>
          </a:blip>
          <a:srcRect b="3185" l="3722" r="3685" t="0"/>
          <a:stretch/>
        </p:blipFill>
        <p:spPr>
          <a:xfrm>
            <a:off x="201475" y="1080650"/>
            <a:ext cx="6056700" cy="3673400"/>
          </a:xfrm>
          <a:prstGeom prst="rect">
            <a:avLst/>
          </a:prstGeom>
          <a:noFill/>
          <a:ln>
            <a:noFill/>
          </a:ln>
        </p:spPr>
      </p:pic>
      <p:sp>
        <p:nvSpPr>
          <p:cNvPr id="380" name="Google Shape;380;p56"/>
          <p:cNvSpPr txBox="1"/>
          <p:nvPr/>
        </p:nvSpPr>
        <p:spPr>
          <a:xfrm>
            <a:off x="6338725" y="443175"/>
            <a:ext cx="2618700" cy="32769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GB" sz="1600">
                <a:latin typeface="Times New Roman"/>
                <a:ea typeface="Times New Roman"/>
                <a:cs typeface="Times New Roman"/>
                <a:sym typeface="Times New Roman"/>
              </a:rPr>
              <a:t>As we can see the most frequent and necessary ingredients are salt, sugar and oil. These affect the health of adolescents the most. So we will be tracking these separately. The time taken to calculate frequent items was </a:t>
            </a:r>
            <a:r>
              <a:rPr b="1" lang="en-GB" sz="1600">
                <a:latin typeface="Times New Roman"/>
                <a:ea typeface="Times New Roman"/>
                <a:cs typeface="Times New Roman"/>
                <a:sym typeface="Times New Roman"/>
              </a:rPr>
              <a:t>0.010021 secs.</a:t>
            </a:r>
            <a:endParaRPr b="1" sz="1600">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1600">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1600">
              <a:latin typeface="Times New Roman"/>
              <a:ea typeface="Times New Roman"/>
              <a:cs typeface="Times New Roman"/>
              <a:sym typeface="Times New Roman"/>
            </a:endParaRPr>
          </a:p>
        </p:txBody>
      </p:sp>
      <p:sp>
        <p:nvSpPr>
          <p:cNvPr id="381" name="Google Shape;381;p56"/>
          <p:cNvSpPr txBox="1"/>
          <p:nvPr/>
        </p:nvSpPr>
        <p:spPr>
          <a:xfrm>
            <a:off x="147750" y="94000"/>
            <a:ext cx="4310700" cy="5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700">
                <a:latin typeface="Times New Roman"/>
                <a:ea typeface="Times New Roman"/>
                <a:cs typeface="Times New Roman"/>
                <a:sym typeface="Times New Roman"/>
              </a:rPr>
              <a:t>TESTING AND RESULTS</a:t>
            </a:r>
            <a:endParaRPr b="1" sz="2700">
              <a:latin typeface="Times New Roman"/>
              <a:ea typeface="Times New Roman"/>
              <a:cs typeface="Times New Roman"/>
              <a:sym typeface="Times New Roman"/>
            </a:endParaRPr>
          </a:p>
        </p:txBody>
      </p:sp>
      <p:sp>
        <p:nvSpPr>
          <p:cNvPr id="382" name="Google Shape;382;p56"/>
          <p:cNvSpPr txBox="1"/>
          <p:nvPr/>
        </p:nvSpPr>
        <p:spPr>
          <a:xfrm>
            <a:off x="8017425" y="899775"/>
            <a:ext cx="73380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7"/>
          <p:cNvSpPr txBox="1"/>
          <p:nvPr>
            <p:ph type="title"/>
          </p:nvPr>
        </p:nvSpPr>
        <p:spPr>
          <a:xfrm>
            <a:off x="311700" y="505800"/>
            <a:ext cx="8520600" cy="68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300"/>
              <a:t>Apriori                                  			 Improved Apriori</a:t>
            </a:r>
            <a:endParaRPr sz="2300"/>
          </a:p>
        </p:txBody>
      </p:sp>
      <p:pic>
        <p:nvPicPr>
          <p:cNvPr id="388" name="Google Shape;388;p57"/>
          <p:cNvPicPr preferRelativeResize="0"/>
          <p:nvPr/>
        </p:nvPicPr>
        <p:blipFill>
          <a:blip r:embed="rId3">
            <a:alphaModFix/>
          </a:blip>
          <a:stretch>
            <a:fillRect/>
          </a:stretch>
        </p:blipFill>
        <p:spPr>
          <a:xfrm>
            <a:off x="135850" y="1033400"/>
            <a:ext cx="4334475" cy="2781250"/>
          </a:xfrm>
          <a:prstGeom prst="rect">
            <a:avLst/>
          </a:prstGeom>
          <a:noFill/>
          <a:ln>
            <a:noFill/>
          </a:ln>
        </p:spPr>
      </p:pic>
      <p:pic>
        <p:nvPicPr>
          <p:cNvPr id="389" name="Google Shape;389;p57"/>
          <p:cNvPicPr preferRelativeResize="0"/>
          <p:nvPr/>
        </p:nvPicPr>
        <p:blipFill>
          <a:blip r:embed="rId4">
            <a:alphaModFix/>
          </a:blip>
          <a:stretch>
            <a:fillRect/>
          </a:stretch>
        </p:blipFill>
        <p:spPr>
          <a:xfrm>
            <a:off x="4791675" y="1046575"/>
            <a:ext cx="4352326" cy="2754893"/>
          </a:xfrm>
          <a:prstGeom prst="rect">
            <a:avLst/>
          </a:prstGeom>
          <a:noFill/>
          <a:ln>
            <a:noFill/>
          </a:ln>
        </p:spPr>
      </p:pic>
      <p:sp>
        <p:nvSpPr>
          <p:cNvPr id="390" name="Google Shape;390;p57"/>
          <p:cNvSpPr txBox="1"/>
          <p:nvPr/>
        </p:nvSpPr>
        <p:spPr>
          <a:xfrm>
            <a:off x="147750" y="94000"/>
            <a:ext cx="4310700" cy="5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700">
                <a:latin typeface="Times New Roman"/>
                <a:ea typeface="Times New Roman"/>
                <a:cs typeface="Times New Roman"/>
                <a:sym typeface="Times New Roman"/>
              </a:rPr>
              <a:t>TESTING AND RESULTS</a:t>
            </a:r>
            <a:endParaRPr b="1" sz="2700">
              <a:latin typeface="Times New Roman"/>
              <a:ea typeface="Times New Roman"/>
              <a:cs typeface="Times New Roman"/>
              <a:sym typeface="Times New Roman"/>
            </a:endParaRPr>
          </a:p>
        </p:txBody>
      </p:sp>
      <p:sp>
        <p:nvSpPr>
          <p:cNvPr id="391" name="Google Shape;391;p57"/>
          <p:cNvSpPr txBox="1"/>
          <p:nvPr/>
        </p:nvSpPr>
        <p:spPr>
          <a:xfrm>
            <a:off x="257975" y="3720900"/>
            <a:ext cx="3018900" cy="12345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GB" sz="1200">
                <a:latin typeface="Times New Roman"/>
                <a:ea typeface="Times New Roman"/>
                <a:cs typeface="Times New Roman"/>
                <a:sym typeface="Times New Roman"/>
              </a:rPr>
              <a:t>Minimum Support: 20%</a:t>
            </a:r>
            <a:br>
              <a:rPr lang="en-GB" sz="1200">
                <a:latin typeface="Times New Roman"/>
                <a:ea typeface="Times New Roman"/>
                <a:cs typeface="Times New Roman"/>
                <a:sym typeface="Times New Roman"/>
              </a:rPr>
            </a:br>
            <a:r>
              <a:rPr lang="en-GB" sz="1200">
                <a:latin typeface="Times New Roman"/>
                <a:ea typeface="Times New Roman"/>
                <a:cs typeface="Times New Roman"/>
                <a:sym typeface="Times New Roman"/>
              </a:rPr>
              <a:t>Confidence: 80%</a:t>
            </a:r>
            <a:endParaRPr sz="1200">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lang="en-GB" sz="1200">
                <a:latin typeface="Times New Roman"/>
                <a:ea typeface="Times New Roman"/>
                <a:cs typeface="Times New Roman"/>
                <a:sym typeface="Times New Roman"/>
              </a:rPr>
              <a:t>Time Taken ; Apriori: </a:t>
            </a:r>
            <a:r>
              <a:rPr lang="en-GB" sz="1200">
                <a:solidFill>
                  <a:srgbClr val="212121"/>
                </a:solidFill>
                <a:highlight>
                  <a:srgbClr val="FFFFFF"/>
                </a:highlight>
                <a:latin typeface="Times New Roman"/>
                <a:ea typeface="Times New Roman"/>
                <a:cs typeface="Times New Roman"/>
                <a:sym typeface="Times New Roman"/>
              </a:rPr>
              <a:t>0.02108 secs</a:t>
            </a:r>
            <a:endParaRPr sz="1200">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lang="en-GB" sz="1200">
                <a:latin typeface="Times New Roman"/>
                <a:ea typeface="Times New Roman"/>
                <a:cs typeface="Times New Roman"/>
                <a:sym typeface="Times New Roman"/>
              </a:rPr>
              <a:t>Time Taken ; Improved Apriori: </a:t>
            </a:r>
            <a:r>
              <a:rPr lang="en-GB" sz="1200">
                <a:solidFill>
                  <a:srgbClr val="212121"/>
                </a:solidFill>
                <a:highlight>
                  <a:srgbClr val="FFFFFF"/>
                </a:highlight>
                <a:latin typeface="Times New Roman"/>
                <a:ea typeface="Times New Roman"/>
                <a:cs typeface="Times New Roman"/>
                <a:sym typeface="Times New Roman"/>
              </a:rPr>
              <a:t>0.00672 secs</a:t>
            </a:r>
            <a:endParaRPr sz="1200">
              <a:solidFill>
                <a:srgbClr val="212121"/>
              </a:solidFill>
              <a:highlight>
                <a:srgbClr val="FFFFFF"/>
              </a:highlight>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1600">
              <a:latin typeface="Times New Roman"/>
              <a:ea typeface="Times New Roman"/>
              <a:cs typeface="Times New Roman"/>
              <a:sym typeface="Times New Roman"/>
            </a:endParaRPr>
          </a:p>
        </p:txBody>
      </p:sp>
      <p:sp>
        <p:nvSpPr>
          <p:cNvPr id="392" name="Google Shape;392;p57"/>
          <p:cNvSpPr txBox="1"/>
          <p:nvPr/>
        </p:nvSpPr>
        <p:spPr>
          <a:xfrm>
            <a:off x="3961700" y="3720900"/>
            <a:ext cx="2618700" cy="13017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GB" sz="1700">
                <a:solidFill>
                  <a:srgbClr val="212121"/>
                </a:solidFill>
                <a:highlight>
                  <a:srgbClr val="FFFFFF"/>
                </a:highlight>
                <a:latin typeface="Times New Roman"/>
                <a:ea typeface="Times New Roman"/>
                <a:cs typeface="Times New Roman"/>
                <a:sym typeface="Times New Roman"/>
              </a:rPr>
              <a:t>Hence, we can infer that the Apriori Algorithm can be improved.</a:t>
            </a:r>
            <a:endParaRPr sz="1700">
              <a:solidFill>
                <a:srgbClr val="212121"/>
              </a:solidFill>
              <a:highlight>
                <a:srgbClr val="FFFFFF"/>
              </a:highlight>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160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58"/>
          <p:cNvPicPr preferRelativeResize="0"/>
          <p:nvPr/>
        </p:nvPicPr>
        <p:blipFill>
          <a:blip r:embed="rId3">
            <a:alphaModFix/>
          </a:blip>
          <a:stretch>
            <a:fillRect/>
          </a:stretch>
        </p:blipFill>
        <p:spPr>
          <a:xfrm>
            <a:off x="147750" y="960613"/>
            <a:ext cx="4380375" cy="3222275"/>
          </a:xfrm>
          <a:prstGeom prst="rect">
            <a:avLst/>
          </a:prstGeom>
          <a:noFill/>
          <a:ln>
            <a:noFill/>
          </a:ln>
        </p:spPr>
      </p:pic>
      <p:pic>
        <p:nvPicPr>
          <p:cNvPr id="398" name="Google Shape;398;p58"/>
          <p:cNvPicPr preferRelativeResize="0"/>
          <p:nvPr/>
        </p:nvPicPr>
        <p:blipFill>
          <a:blip r:embed="rId4">
            <a:alphaModFix/>
          </a:blip>
          <a:stretch>
            <a:fillRect/>
          </a:stretch>
        </p:blipFill>
        <p:spPr>
          <a:xfrm>
            <a:off x="4690925" y="960636"/>
            <a:ext cx="4141375" cy="2917625"/>
          </a:xfrm>
          <a:prstGeom prst="rect">
            <a:avLst/>
          </a:prstGeom>
          <a:noFill/>
          <a:ln>
            <a:noFill/>
          </a:ln>
        </p:spPr>
      </p:pic>
      <p:sp>
        <p:nvSpPr>
          <p:cNvPr id="399" name="Google Shape;399;p58"/>
          <p:cNvSpPr txBox="1"/>
          <p:nvPr>
            <p:ph type="title"/>
          </p:nvPr>
        </p:nvSpPr>
        <p:spPr>
          <a:xfrm>
            <a:off x="311700" y="505800"/>
            <a:ext cx="8520600" cy="51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300"/>
              <a:t>ECLAT                                   			FP-Growth</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p:txBody>
      </p:sp>
      <p:sp>
        <p:nvSpPr>
          <p:cNvPr id="400" name="Google Shape;400;p58"/>
          <p:cNvSpPr txBox="1"/>
          <p:nvPr/>
        </p:nvSpPr>
        <p:spPr>
          <a:xfrm>
            <a:off x="147750" y="94000"/>
            <a:ext cx="4310700" cy="5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700">
                <a:latin typeface="Times New Roman"/>
                <a:ea typeface="Times New Roman"/>
                <a:cs typeface="Times New Roman"/>
                <a:sym typeface="Times New Roman"/>
              </a:rPr>
              <a:t>TESTING AND RESULTS</a:t>
            </a:r>
            <a:endParaRPr b="1" sz="2700">
              <a:latin typeface="Times New Roman"/>
              <a:ea typeface="Times New Roman"/>
              <a:cs typeface="Times New Roman"/>
              <a:sym typeface="Times New Roman"/>
            </a:endParaRPr>
          </a:p>
        </p:txBody>
      </p:sp>
      <p:sp>
        <p:nvSpPr>
          <p:cNvPr id="401" name="Google Shape;401;p58"/>
          <p:cNvSpPr txBox="1"/>
          <p:nvPr/>
        </p:nvSpPr>
        <p:spPr>
          <a:xfrm>
            <a:off x="147750" y="4122850"/>
            <a:ext cx="8863200" cy="8325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GB">
                <a:highlight>
                  <a:srgbClr val="FFFFFF"/>
                </a:highlight>
                <a:latin typeface="Times New Roman"/>
                <a:ea typeface="Times New Roman"/>
                <a:cs typeface="Times New Roman"/>
                <a:sym typeface="Times New Roman"/>
              </a:rPr>
              <a:t>Time Taken; ECLAT: </a:t>
            </a:r>
            <a:r>
              <a:rPr lang="en-GB">
                <a:solidFill>
                  <a:srgbClr val="212121"/>
                </a:solidFill>
                <a:highlight>
                  <a:srgbClr val="FFFFFF"/>
                </a:highlight>
                <a:latin typeface="Times New Roman"/>
                <a:ea typeface="Times New Roman"/>
                <a:cs typeface="Times New Roman"/>
                <a:sym typeface="Times New Roman"/>
              </a:rPr>
              <a:t>0.00069 seconds      		</a:t>
            </a:r>
            <a:r>
              <a:rPr lang="en-GB">
                <a:highlight>
                  <a:srgbClr val="FFFFFF"/>
                </a:highlight>
                <a:latin typeface="Times New Roman"/>
                <a:ea typeface="Times New Roman"/>
                <a:cs typeface="Times New Roman"/>
                <a:sym typeface="Times New Roman"/>
              </a:rPr>
              <a:t>Time Taken; FP Growth: </a:t>
            </a:r>
            <a:r>
              <a:rPr lang="en-GB">
                <a:solidFill>
                  <a:srgbClr val="212121"/>
                </a:solidFill>
                <a:highlight>
                  <a:srgbClr val="FFFFFF"/>
                </a:highlight>
                <a:latin typeface="Times New Roman"/>
                <a:ea typeface="Times New Roman"/>
                <a:cs typeface="Times New Roman"/>
                <a:sym typeface="Times New Roman"/>
              </a:rPr>
              <a:t>0.00174 seconds</a:t>
            </a:r>
            <a:endParaRPr>
              <a:solidFill>
                <a:srgbClr val="212121"/>
              </a:solidFill>
              <a:highlight>
                <a:srgbClr val="FFFFFF"/>
              </a:highlight>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lang="en-GB">
                <a:solidFill>
                  <a:srgbClr val="212121"/>
                </a:solidFill>
                <a:highlight>
                  <a:srgbClr val="FFFFFF"/>
                </a:highlight>
                <a:latin typeface="Times New Roman"/>
                <a:ea typeface="Times New Roman"/>
                <a:cs typeface="Times New Roman"/>
                <a:sym typeface="Times New Roman"/>
              </a:rPr>
              <a:t>Hence, we can infer that both ECLAT and FP Growth are more efficient than Apriori original and improved algorithms</a:t>
            </a:r>
            <a:endParaRPr>
              <a:solidFill>
                <a:srgbClr val="212121"/>
              </a:solidFill>
              <a:highlight>
                <a:srgbClr val="FFFFFF"/>
              </a:highlight>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1800">
              <a:highlight>
                <a:srgbClr val="FFFFFF"/>
              </a:highlight>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9"/>
          <p:cNvSpPr txBox="1"/>
          <p:nvPr>
            <p:ph type="title"/>
          </p:nvPr>
        </p:nvSpPr>
        <p:spPr>
          <a:xfrm>
            <a:off x="134300" y="1369800"/>
            <a:ext cx="2283000" cy="162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GB" sz="2000"/>
              <a:t>PERFORMANCE</a:t>
            </a:r>
            <a:endParaRPr b="1" sz="2000"/>
          </a:p>
          <a:p>
            <a:pPr indent="0" lvl="0" marL="0" rtl="0" algn="l">
              <a:spcBef>
                <a:spcPts val="0"/>
              </a:spcBef>
              <a:spcAft>
                <a:spcPts val="0"/>
              </a:spcAft>
              <a:buNone/>
            </a:pPr>
            <a:r>
              <a:rPr b="1" lang="en-GB" sz="2000"/>
              <a:t>ANALYSIS</a:t>
            </a:r>
            <a:endParaRPr b="1" sz="2000"/>
          </a:p>
          <a:p>
            <a:pPr indent="0" lvl="0" marL="0" rtl="0" algn="l">
              <a:spcBef>
                <a:spcPts val="0"/>
              </a:spcBef>
              <a:spcAft>
                <a:spcPts val="0"/>
              </a:spcAft>
              <a:buNone/>
            </a:pPr>
            <a:r>
              <a:rPr b="1" lang="en-GB" sz="2000"/>
              <a:t>OF </a:t>
            </a:r>
            <a:r>
              <a:rPr b="1" lang="en-GB" sz="2000">
                <a:solidFill>
                  <a:srgbClr val="FFFF00"/>
                </a:solidFill>
              </a:rPr>
              <a:t>ALGORITHMS</a:t>
            </a:r>
            <a:endParaRPr b="1" sz="2000">
              <a:solidFill>
                <a:srgbClr val="FFFF00"/>
              </a:solidFill>
            </a:endParaRPr>
          </a:p>
          <a:p>
            <a:pPr indent="0" lvl="0" marL="0" rtl="0" algn="l">
              <a:spcBef>
                <a:spcPts val="0"/>
              </a:spcBef>
              <a:spcAft>
                <a:spcPts val="0"/>
              </a:spcAft>
              <a:buNone/>
            </a:pPr>
            <a:r>
              <a:rPr b="1" lang="en-GB" sz="2000">
                <a:solidFill>
                  <a:srgbClr val="FFFF00"/>
                </a:solidFill>
              </a:rPr>
              <a:t>WITH CHANGING SUPPORT </a:t>
            </a:r>
            <a:r>
              <a:rPr b="1" lang="en-GB" sz="2000"/>
              <a:t>VALUES</a:t>
            </a:r>
            <a:endParaRPr b="1" sz="2000"/>
          </a:p>
        </p:txBody>
      </p:sp>
      <p:pic>
        <p:nvPicPr>
          <p:cNvPr id="407" name="Google Shape;407;p59"/>
          <p:cNvPicPr preferRelativeResize="0"/>
          <p:nvPr/>
        </p:nvPicPr>
        <p:blipFill>
          <a:blip r:embed="rId3">
            <a:alphaModFix/>
          </a:blip>
          <a:stretch>
            <a:fillRect/>
          </a:stretch>
        </p:blipFill>
        <p:spPr>
          <a:xfrm>
            <a:off x="2524750" y="269099"/>
            <a:ext cx="6338725" cy="47310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